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339" r:id="rId3"/>
    <p:sldId id="359" r:id="rId4"/>
    <p:sldId id="341" r:id="rId5"/>
    <p:sldId id="358" r:id="rId6"/>
    <p:sldId id="361" r:id="rId7"/>
    <p:sldId id="362" r:id="rId8"/>
    <p:sldId id="369" r:id="rId9"/>
    <p:sldId id="370" r:id="rId10"/>
    <p:sldId id="371" r:id="rId11"/>
    <p:sldId id="372" r:id="rId12"/>
    <p:sldId id="373" r:id="rId13"/>
    <p:sldId id="374" r:id="rId14"/>
    <p:sldId id="375" r:id="rId15"/>
    <p:sldId id="376" r:id="rId16"/>
    <p:sldId id="363" r:id="rId17"/>
    <p:sldId id="364" r:id="rId18"/>
    <p:sldId id="365" r:id="rId19"/>
    <p:sldId id="366" r:id="rId20"/>
    <p:sldId id="367" r:id="rId21"/>
    <p:sldId id="368" r:id="rId22"/>
    <p:sldId id="3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run" initials="h" lastIdx="1" clrIdx="0">
    <p:extLst>
      <p:ext uri="{19B8F6BF-5375-455C-9EA6-DF929625EA0E}">
        <p15:presenceInfo xmlns:p15="http://schemas.microsoft.com/office/powerpoint/2012/main" userId="haru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248" autoAdjust="0"/>
    <p:restoredTop sz="94206" autoAdjust="0"/>
  </p:normalViewPr>
  <p:slideViewPr>
    <p:cSldViewPr snapToGrid="0">
      <p:cViewPr varScale="1">
        <p:scale>
          <a:sx n="85" d="100"/>
          <a:sy n="85" d="100"/>
        </p:scale>
        <p:origin x="85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9C1BBD-039B-4404-AB99-C4C12977E6F8}" type="datetimeFigureOut">
              <a:rPr lang="en-US" smtClean="0"/>
              <a:t>11/28/2024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E11474-611A-4088-A153-F8BA7274CFBF}" type="slidenum">
              <a:rPr lang="en-US" smtClean="0"/>
              <a:t>‹#›</a:t>
            </a:fld>
            <a:endParaRPr lang="en-US"/>
          </a:p>
        </p:txBody>
      </p:sp>
    </p:spTree>
    <p:extLst>
      <p:ext uri="{BB962C8B-B14F-4D97-AF65-F5344CB8AC3E}">
        <p14:creationId xmlns:p14="http://schemas.microsoft.com/office/powerpoint/2010/main" val="2687635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F8851-72CE-26F4-9EBF-25373CAE07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DFD3DE-74D8-D3AF-A302-0D0B26C4A3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9E8155-A310-67FE-8528-F066A9B41CF6}"/>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5" name="Footer Placeholder 4">
            <a:extLst>
              <a:ext uri="{FF2B5EF4-FFF2-40B4-BE49-F238E27FC236}">
                <a16:creationId xmlns:a16="http://schemas.microsoft.com/office/drawing/2014/main" id="{8EF429C8-34A0-12C2-1502-69FA9C42CA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D955A-8D3C-EECA-6D42-62D56DA7190A}"/>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1782423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96DC8-54C6-2202-1339-A45D592EB0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F27CF1-6324-BCBA-4C4D-53031D0880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E4C99F-8955-445F-9AD8-16F615B4A7EA}"/>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5" name="Footer Placeholder 4">
            <a:extLst>
              <a:ext uri="{FF2B5EF4-FFF2-40B4-BE49-F238E27FC236}">
                <a16:creationId xmlns:a16="http://schemas.microsoft.com/office/drawing/2014/main" id="{161FD47B-6E2C-9E09-2CDE-8FD5BEA5B9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CFC396-4524-FB5B-9EFA-C0DF9DB92BB9}"/>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309070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7355F-C9CB-CA01-5777-CF0AE69047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E16B6C4-1A9C-1507-0BEA-C27844FF6E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215852-7D0A-4B73-DD61-3FFFBAFD5ABD}"/>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5" name="Footer Placeholder 4">
            <a:extLst>
              <a:ext uri="{FF2B5EF4-FFF2-40B4-BE49-F238E27FC236}">
                <a16:creationId xmlns:a16="http://schemas.microsoft.com/office/drawing/2014/main" id="{09A18E22-2235-3AEC-C06B-959AD00D26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4F31B-C384-83A6-5113-DF70F95FDAB4}"/>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3512581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3FAC0-408A-14C3-BB9E-1EADA945D9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FAC31E-CEA8-55FB-0AC0-F8639BA5B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C9873E-A63A-A3F6-F024-D3F2998F62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448ED2-833C-6797-820E-E08F6F86C280}"/>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6" name="Footer Placeholder 5">
            <a:extLst>
              <a:ext uri="{FF2B5EF4-FFF2-40B4-BE49-F238E27FC236}">
                <a16:creationId xmlns:a16="http://schemas.microsoft.com/office/drawing/2014/main" id="{4E75B694-6CCD-CDC5-7E40-1FA8455683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FA77AE-9C9B-62B3-B7B2-F619E5DB35B2}"/>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487912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EC81B-3533-391C-59A3-58287DEA6E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330475-9682-E7D5-8437-36EF9DED07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484258-5452-E364-A946-D13DCE69FE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A1A2C4-8464-3E00-A21A-0FA14A5DFC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55A596E-E134-2CA8-86D0-85D54B2158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0844CE-2D7B-749A-1E4E-6DE9E6C328A0}"/>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8" name="Footer Placeholder 7">
            <a:extLst>
              <a:ext uri="{FF2B5EF4-FFF2-40B4-BE49-F238E27FC236}">
                <a16:creationId xmlns:a16="http://schemas.microsoft.com/office/drawing/2014/main" id="{00D1FABB-05FD-624A-4A5D-3B723CF6D5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D5647D-106C-F6F4-62B4-DBA4C28C21D9}"/>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4258584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A5443-6F64-B11E-66C1-AA5726E412A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A9B901-8BB2-54C8-1C68-96D0E462B59C}"/>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4" name="Footer Placeholder 3">
            <a:extLst>
              <a:ext uri="{FF2B5EF4-FFF2-40B4-BE49-F238E27FC236}">
                <a16:creationId xmlns:a16="http://schemas.microsoft.com/office/drawing/2014/main" id="{5F22B2EA-1203-7174-3F95-700364694E0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66566E-4443-10A8-9573-A932D83196F0}"/>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2646572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BAA55-0923-E060-893F-80F301FF6F1F}"/>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3" name="Footer Placeholder 2">
            <a:extLst>
              <a:ext uri="{FF2B5EF4-FFF2-40B4-BE49-F238E27FC236}">
                <a16:creationId xmlns:a16="http://schemas.microsoft.com/office/drawing/2014/main" id="{3FE8B3E1-D217-B472-6E94-8483209819B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78090DA-CD21-7F98-5872-0F86A0D6697C}"/>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3885923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4DE2C-F508-1752-78C9-09E814F56F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4973AB-94B3-4C72-034A-C63C1C49C3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E2CE40-0705-6DB4-F15A-89C55CC458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69FE79-A2E4-5112-3D54-8B59B926C10A}"/>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6" name="Footer Placeholder 5">
            <a:extLst>
              <a:ext uri="{FF2B5EF4-FFF2-40B4-BE49-F238E27FC236}">
                <a16:creationId xmlns:a16="http://schemas.microsoft.com/office/drawing/2014/main" id="{C8A5CCC1-5021-0416-21F1-DDB6DE9D57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EE8482-71FE-0440-5E27-5252F8056A02}"/>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4133252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17E51-F7A7-0E0B-6981-1F7684967E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870F7B-2A90-5453-4475-B861D54260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9D4723-E859-27C9-4B9A-F8F871900E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78B12B-863A-7506-F0BB-1B690F66B5D0}"/>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6" name="Footer Placeholder 5">
            <a:extLst>
              <a:ext uri="{FF2B5EF4-FFF2-40B4-BE49-F238E27FC236}">
                <a16:creationId xmlns:a16="http://schemas.microsoft.com/office/drawing/2014/main" id="{0A702FD9-1B7E-F716-D4FA-AEE6F4A76E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3FA625-519D-AA9A-F1FA-5A5E0BBF7883}"/>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2313377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DE519-299F-5638-F074-ED7A4003BE8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5640AE-57A0-2F38-AA4B-C80C9E944D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2BDD5E-D2D5-B4ED-569F-8B7DC70282BB}"/>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5" name="Footer Placeholder 4">
            <a:extLst>
              <a:ext uri="{FF2B5EF4-FFF2-40B4-BE49-F238E27FC236}">
                <a16:creationId xmlns:a16="http://schemas.microsoft.com/office/drawing/2014/main" id="{78B08B12-2AAE-2577-69EE-4055D7D94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C8858-18E7-A6EF-3525-E6990A9D8E13}"/>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470413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B032E8-D250-9AB3-6C6C-7562501A709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10909C-967C-D836-2B2B-CBD85EE032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ED737B-698C-C5F0-7115-9B463E6FD9A1}"/>
              </a:ext>
            </a:extLst>
          </p:cNvPr>
          <p:cNvSpPr>
            <a:spLocks noGrp="1"/>
          </p:cNvSpPr>
          <p:nvPr>
            <p:ph type="dt" sz="half" idx="10"/>
          </p:nvPr>
        </p:nvSpPr>
        <p:spPr/>
        <p:txBody>
          <a:bodyPr/>
          <a:lstStyle/>
          <a:p>
            <a:fld id="{16FB8782-BCBF-4086-9C8F-21531D9C4A06}" type="datetimeFigureOut">
              <a:rPr lang="en-US" smtClean="0"/>
              <a:t>11/28/2024</a:t>
            </a:fld>
            <a:endParaRPr lang="en-US"/>
          </a:p>
        </p:txBody>
      </p:sp>
      <p:sp>
        <p:nvSpPr>
          <p:cNvPr id="5" name="Footer Placeholder 4">
            <a:extLst>
              <a:ext uri="{FF2B5EF4-FFF2-40B4-BE49-F238E27FC236}">
                <a16:creationId xmlns:a16="http://schemas.microsoft.com/office/drawing/2014/main" id="{B3E451DA-9F25-A405-CF12-A0B3E01511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3ABDE7-BA64-5E2D-FE20-AA396E36D3D4}"/>
              </a:ext>
            </a:extLst>
          </p:cNvPr>
          <p:cNvSpPr>
            <a:spLocks noGrp="1"/>
          </p:cNvSpPr>
          <p:nvPr>
            <p:ph type="sldNum" sz="quarter" idx="12"/>
          </p:nvPr>
        </p:nvSpPr>
        <p:spPr/>
        <p:txBody>
          <a:bodyPr/>
          <a:lstStyle/>
          <a:p>
            <a:fld id="{0019FD36-01FC-4E57-9576-B7CD3519AE2D}" type="slidenum">
              <a:rPr lang="en-US" smtClean="0"/>
              <a:t>‹#›</a:t>
            </a:fld>
            <a:endParaRPr lang="en-US"/>
          </a:p>
        </p:txBody>
      </p:sp>
    </p:spTree>
    <p:extLst>
      <p:ext uri="{BB962C8B-B14F-4D97-AF65-F5344CB8AC3E}">
        <p14:creationId xmlns:p14="http://schemas.microsoft.com/office/powerpoint/2010/main" val="3045661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7BFC7E-03D5-D3CD-CC3A-269C763A0B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DEC8BC-673E-E58D-9E83-FF868E93C7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AD2254-B7EC-0992-493F-FCE338082C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FB8782-BCBF-4086-9C8F-21531D9C4A06}" type="datetimeFigureOut">
              <a:rPr lang="en-US" smtClean="0"/>
              <a:t>11/28/2024</a:t>
            </a:fld>
            <a:endParaRPr lang="en-US"/>
          </a:p>
        </p:txBody>
      </p:sp>
      <p:sp>
        <p:nvSpPr>
          <p:cNvPr id="5" name="Footer Placeholder 4">
            <a:extLst>
              <a:ext uri="{FF2B5EF4-FFF2-40B4-BE49-F238E27FC236}">
                <a16:creationId xmlns:a16="http://schemas.microsoft.com/office/drawing/2014/main" id="{3021F483-E533-181F-F53B-EA301BF0EB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5D3B8EE-EAD4-8944-77CD-C324390237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19FD36-01FC-4E57-9576-B7CD3519AE2D}" type="slidenum">
              <a:rPr lang="en-US" smtClean="0"/>
              <a:t>‹#›</a:t>
            </a:fld>
            <a:endParaRPr lang="en-US"/>
          </a:p>
        </p:txBody>
      </p:sp>
    </p:spTree>
    <p:extLst>
      <p:ext uri="{BB962C8B-B14F-4D97-AF65-F5344CB8AC3E}">
        <p14:creationId xmlns:p14="http://schemas.microsoft.com/office/powerpoint/2010/main" val="831486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08B08-799A-E869-DF63-AA619C640778}"/>
              </a:ext>
            </a:extLst>
          </p:cNvPr>
          <p:cNvSpPr>
            <a:spLocks noGrp="1"/>
          </p:cNvSpPr>
          <p:nvPr>
            <p:ph type="ctrTitle"/>
          </p:nvPr>
        </p:nvSpPr>
        <p:spPr>
          <a:xfrm>
            <a:off x="263817" y="3050622"/>
            <a:ext cx="11234057" cy="1786160"/>
          </a:xfrm>
        </p:spPr>
        <p:txBody>
          <a:bodyPr>
            <a:normAutofit fontScale="90000"/>
          </a:bodyPr>
          <a:lstStyle/>
          <a:p>
            <a:r>
              <a:rPr lang="en-US" sz="4900" b="1" dirty="0">
                <a:solidFill>
                  <a:srgbClr val="000000"/>
                </a:solidFill>
                <a:highlight>
                  <a:srgbClr val="FFFFFF"/>
                </a:highlight>
                <a:latin typeface="Inter"/>
              </a:rPr>
              <a:t>Introduction to Quantum Machine Learning</a:t>
            </a:r>
            <a:br>
              <a:rPr lang="en-US" b="1" dirty="0">
                <a:solidFill>
                  <a:srgbClr val="273239"/>
                </a:solidFill>
                <a:latin typeface="Source Sans 3"/>
              </a:rPr>
            </a:br>
            <a:br>
              <a:rPr lang="en-US" b="1" dirty="0">
                <a:solidFill>
                  <a:srgbClr val="273239"/>
                </a:solidFill>
                <a:latin typeface="Source Sans 3"/>
              </a:rPr>
            </a:br>
            <a:endParaRPr lang="en-US" sz="4900" b="1" dirty="0">
              <a:solidFill>
                <a:srgbClr val="000000"/>
              </a:solidFill>
              <a:highlight>
                <a:srgbClr val="FFFFFF"/>
              </a:highlight>
              <a:latin typeface="Inter"/>
            </a:endParaRPr>
          </a:p>
        </p:txBody>
      </p:sp>
      <p:sp>
        <p:nvSpPr>
          <p:cNvPr id="3" name="Subtitle 2">
            <a:extLst>
              <a:ext uri="{FF2B5EF4-FFF2-40B4-BE49-F238E27FC236}">
                <a16:creationId xmlns:a16="http://schemas.microsoft.com/office/drawing/2014/main" id="{5B8B0F5D-9F53-1E9A-C4A0-A45C73CADECE}"/>
              </a:ext>
            </a:extLst>
          </p:cNvPr>
          <p:cNvSpPr>
            <a:spLocks noGrp="1"/>
          </p:cNvSpPr>
          <p:nvPr>
            <p:ph type="subTitle" idx="1"/>
          </p:nvPr>
        </p:nvSpPr>
        <p:spPr>
          <a:xfrm>
            <a:off x="1407459" y="4132729"/>
            <a:ext cx="9144000" cy="2539534"/>
          </a:xfrm>
        </p:spPr>
        <p:txBody>
          <a:bodyPr>
            <a:normAutofit/>
          </a:bodyPr>
          <a:lstStyle/>
          <a:p>
            <a:r>
              <a:rPr lang="en-US" sz="2800" dirty="0">
                <a:solidFill>
                  <a:srgbClr val="4D5156"/>
                </a:solidFill>
                <a:highlight>
                  <a:srgbClr val="FFFFFF"/>
                </a:highlight>
                <a:latin typeface="arial" panose="020B0604020202020204" pitchFamily="34" charset="0"/>
              </a:rPr>
              <a:t>By </a:t>
            </a:r>
          </a:p>
          <a:p>
            <a:r>
              <a:rPr lang="en-US" sz="2800" b="1" dirty="0">
                <a:solidFill>
                  <a:srgbClr val="4D5156"/>
                </a:solidFill>
                <a:highlight>
                  <a:srgbClr val="FFFFFF"/>
                </a:highlight>
                <a:latin typeface="arial" panose="020B0604020202020204" pitchFamily="34" charset="0"/>
              </a:rPr>
              <a:t>Mentor: Dr. Peter Nimbe</a:t>
            </a:r>
          </a:p>
          <a:p>
            <a:r>
              <a:rPr lang="en-US" sz="2800" dirty="0">
                <a:solidFill>
                  <a:srgbClr val="4D5156"/>
                </a:solidFill>
                <a:highlight>
                  <a:srgbClr val="FFFFFF"/>
                </a:highlight>
                <a:latin typeface="arial" panose="020B0604020202020204" pitchFamily="34" charset="0"/>
              </a:rPr>
              <a:t>University of Energy and Natural Resources</a:t>
            </a:r>
          </a:p>
          <a:p>
            <a:r>
              <a:rPr lang="en-US" sz="2800" dirty="0">
                <a:solidFill>
                  <a:srgbClr val="4D5156"/>
                </a:solidFill>
                <a:highlight>
                  <a:srgbClr val="FFFFFF"/>
                </a:highlight>
                <a:latin typeface="arial" panose="020B0604020202020204" pitchFamily="34" charset="0"/>
              </a:rPr>
              <a:t>Department of Computer Science and Informatics</a:t>
            </a:r>
          </a:p>
          <a:p>
            <a:r>
              <a:rPr lang="en-US" sz="2800" dirty="0">
                <a:solidFill>
                  <a:srgbClr val="4D5156"/>
                </a:solidFill>
                <a:highlight>
                  <a:srgbClr val="FFFFFF"/>
                </a:highlight>
                <a:latin typeface="arial" panose="020B0604020202020204" pitchFamily="34" charset="0"/>
              </a:rPr>
              <a:t>Ghana</a:t>
            </a:r>
          </a:p>
        </p:txBody>
      </p:sp>
      <p:pic>
        <p:nvPicPr>
          <p:cNvPr id="5" name="Picture 4">
            <a:extLst>
              <a:ext uri="{FF2B5EF4-FFF2-40B4-BE49-F238E27FC236}">
                <a16:creationId xmlns:a16="http://schemas.microsoft.com/office/drawing/2014/main" id="{43799DD7-3FE6-B286-1125-33C5EC70E52B}"/>
              </a:ext>
            </a:extLst>
          </p:cNvPr>
          <p:cNvPicPr>
            <a:picLocks noChangeAspect="1"/>
          </p:cNvPicPr>
          <p:nvPr/>
        </p:nvPicPr>
        <p:blipFill rotWithShape="1">
          <a:blip r:embed="rId2">
            <a:extLst>
              <a:ext uri="{28A0092B-C50C-407E-A947-70E740481C1C}">
                <a14:useLocalDpi xmlns:a14="http://schemas.microsoft.com/office/drawing/2010/main" val="0"/>
              </a:ext>
            </a:extLst>
          </a:blip>
          <a:srcRect l="18223" t="12650" r="22158" b="17150"/>
          <a:stretch/>
        </p:blipFill>
        <p:spPr>
          <a:xfrm>
            <a:off x="1" y="43548"/>
            <a:ext cx="1269402" cy="1397977"/>
          </a:xfrm>
          <a:prstGeom prst="rect">
            <a:avLst/>
          </a:prstGeom>
        </p:spPr>
      </p:pic>
      <p:pic>
        <p:nvPicPr>
          <p:cNvPr id="4" name="Picture 3">
            <a:extLst>
              <a:ext uri="{FF2B5EF4-FFF2-40B4-BE49-F238E27FC236}">
                <a16:creationId xmlns:a16="http://schemas.microsoft.com/office/drawing/2014/main" id="{7897FEAD-0DC9-FF87-59E7-382ED4DB9305}"/>
              </a:ext>
            </a:extLst>
          </p:cNvPr>
          <p:cNvPicPr>
            <a:picLocks noChangeAspect="1"/>
          </p:cNvPicPr>
          <p:nvPr/>
        </p:nvPicPr>
        <p:blipFill>
          <a:blip r:embed="rId3"/>
          <a:stretch>
            <a:fillRect/>
          </a:stretch>
        </p:blipFill>
        <p:spPr>
          <a:xfrm>
            <a:off x="9975271" y="11832"/>
            <a:ext cx="2216727" cy="1618720"/>
          </a:xfrm>
          <a:prstGeom prst="rect">
            <a:avLst/>
          </a:prstGeom>
        </p:spPr>
      </p:pic>
    </p:spTree>
    <p:extLst>
      <p:ext uri="{BB962C8B-B14F-4D97-AF65-F5344CB8AC3E}">
        <p14:creationId xmlns:p14="http://schemas.microsoft.com/office/powerpoint/2010/main" val="3882756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BDA8D-7EC6-E403-C906-4476CCCA802B}"/>
              </a:ext>
            </a:extLst>
          </p:cNvPr>
          <p:cNvSpPr>
            <a:spLocks noGrp="1"/>
          </p:cNvSpPr>
          <p:nvPr>
            <p:ph type="title"/>
          </p:nvPr>
        </p:nvSpPr>
        <p:spPr/>
        <p:txBody>
          <a:bodyPr/>
          <a:lstStyle/>
          <a:p>
            <a:r>
              <a:rPr lang="en-US" b="1" dirty="0">
                <a:solidFill>
                  <a:srgbClr val="0F1114"/>
                </a:solidFill>
                <a:latin typeface="Source Sans Pro" panose="020B0503030403020204" pitchFamily="34" charset="0"/>
              </a:rPr>
              <a:t>What is Quantum Machine Learning?</a:t>
            </a:r>
          </a:p>
        </p:txBody>
      </p:sp>
      <p:sp>
        <p:nvSpPr>
          <p:cNvPr id="3" name="Content Placeholder 2">
            <a:extLst>
              <a:ext uri="{FF2B5EF4-FFF2-40B4-BE49-F238E27FC236}">
                <a16:creationId xmlns:a16="http://schemas.microsoft.com/office/drawing/2014/main" id="{8FB71140-1F5B-9AD7-5194-AEA76BC6FD7D}"/>
              </a:ext>
            </a:extLst>
          </p:cNvPr>
          <p:cNvSpPr>
            <a:spLocks noGrp="1"/>
          </p:cNvSpPr>
          <p:nvPr>
            <p:ph idx="1"/>
          </p:nvPr>
        </p:nvSpPr>
        <p:spPr/>
        <p:txBody>
          <a:bodyPr>
            <a:normAutofit fontScale="92500" lnSpcReduction="20000"/>
          </a:bodyPr>
          <a:lstStyle/>
          <a:p>
            <a:pPr algn="just"/>
            <a:r>
              <a:rPr lang="en-US" dirty="0"/>
              <a:t>Quantum machine learning (QML) is an interdisciplinary field that integrates quantum physics concepts with machine learning to produce algorithms that employ quantum computer’s processing power to address specific sorts of issues more effectively than classical computers. </a:t>
            </a:r>
          </a:p>
          <a:p>
            <a:pPr algn="just"/>
            <a:r>
              <a:rPr lang="en-US" dirty="0"/>
              <a:t>The quantum computer, a whole new class of computing system, increases the hardware available for machine learning through quantum machine learning. </a:t>
            </a:r>
          </a:p>
          <a:p>
            <a:pPr algn="just"/>
            <a:r>
              <a:rPr lang="en-US" dirty="0"/>
              <a:t>Quantum theory, which is based on completely different physics, is the foundation for information processing using quantum computers.</a:t>
            </a:r>
          </a:p>
          <a:p>
            <a:pPr algn="just"/>
            <a:r>
              <a:rPr lang="en-US" dirty="0"/>
              <a:t>The collaboration of machine learning, quantum computing, and intelligent optimization algorithms serves as the foundation for addressing the complexities of future communication systems and optimizing their performance.</a:t>
            </a:r>
          </a:p>
        </p:txBody>
      </p:sp>
    </p:spTree>
    <p:extLst>
      <p:ext uri="{BB962C8B-B14F-4D97-AF65-F5344CB8AC3E}">
        <p14:creationId xmlns:p14="http://schemas.microsoft.com/office/powerpoint/2010/main" val="3380051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387B6-B9D1-C6EA-1239-C1D592BAC95F}"/>
              </a:ext>
            </a:extLst>
          </p:cNvPr>
          <p:cNvSpPr>
            <a:spLocks noGrp="1"/>
          </p:cNvSpPr>
          <p:nvPr>
            <p:ph type="title"/>
          </p:nvPr>
        </p:nvSpPr>
        <p:spPr/>
        <p:txBody>
          <a:bodyPr/>
          <a:lstStyle/>
          <a:p>
            <a:r>
              <a:rPr lang="en-US" b="1" dirty="0">
                <a:solidFill>
                  <a:srgbClr val="0F1114"/>
                </a:solidFill>
                <a:latin typeface="Source Sans Pro" panose="020B0503030403020204" pitchFamily="34" charset="0"/>
              </a:rPr>
              <a:t>Quantum Machine Learning</a:t>
            </a:r>
          </a:p>
        </p:txBody>
      </p:sp>
      <p:pic>
        <p:nvPicPr>
          <p:cNvPr id="6" name="Picture 5">
            <a:extLst>
              <a:ext uri="{FF2B5EF4-FFF2-40B4-BE49-F238E27FC236}">
                <a16:creationId xmlns:a16="http://schemas.microsoft.com/office/drawing/2014/main" id="{AE9E16DA-6967-E9FA-3519-AF22EAA1CC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0964" y="1690688"/>
            <a:ext cx="4122187" cy="3929818"/>
          </a:xfrm>
          <a:prstGeom prst="rect">
            <a:avLst/>
          </a:prstGeom>
        </p:spPr>
      </p:pic>
    </p:spTree>
    <p:extLst>
      <p:ext uri="{BB962C8B-B14F-4D97-AF65-F5344CB8AC3E}">
        <p14:creationId xmlns:p14="http://schemas.microsoft.com/office/powerpoint/2010/main" val="1514169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387B6-B9D1-C6EA-1239-C1D592BAC95F}"/>
              </a:ext>
            </a:extLst>
          </p:cNvPr>
          <p:cNvSpPr>
            <a:spLocks noGrp="1"/>
          </p:cNvSpPr>
          <p:nvPr>
            <p:ph type="title"/>
          </p:nvPr>
        </p:nvSpPr>
        <p:spPr/>
        <p:txBody>
          <a:bodyPr/>
          <a:lstStyle/>
          <a:p>
            <a:r>
              <a:rPr lang="en-US" b="1" dirty="0">
                <a:solidFill>
                  <a:srgbClr val="0F1114"/>
                </a:solidFill>
                <a:latin typeface="Source Sans Pro" panose="020B0503030403020204" pitchFamily="34" charset="0"/>
              </a:rPr>
              <a:t>Quantum Mechanics</a:t>
            </a:r>
          </a:p>
        </p:txBody>
      </p:sp>
      <p:sp>
        <p:nvSpPr>
          <p:cNvPr id="3" name="Content Placeholder 2">
            <a:extLst>
              <a:ext uri="{FF2B5EF4-FFF2-40B4-BE49-F238E27FC236}">
                <a16:creationId xmlns:a16="http://schemas.microsoft.com/office/drawing/2014/main" id="{220B6ED9-A6B0-AD68-66B4-EC20CB0A0D53}"/>
              </a:ext>
            </a:extLst>
          </p:cNvPr>
          <p:cNvSpPr>
            <a:spLocks noGrp="1"/>
          </p:cNvSpPr>
          <p:nvPr>
            <p:ph idx="1"/>
          </p:nvPr>
        </p:nvSpPr>
        <p:spPr/>
        <p:txBody>
          <a:bodyPr>
            <a:normAutofit fontScale="92500" lnSpcReduction="20000"/>
          </a:bodyPr>
          <a:lstStyle/>
          <a:p>
            <a:pPr algn="just"/>
            <a:r>
              <a:rPr lang="en-US" b="0" i="0" dirty="0">
                <a:solidFill>
                  <a:srgbClr val="0F1114"/>
                </a:solidFill>
                <a:effectLst/>
                <a:latin typeface="var(--cds-font-family-source-sans-pro)"/>
              </a:rPr>
              <a:t>It is generally acknowledged that every element demonstrates both particle and wave properties, as numerous scientists have repeatedly demonstrated throughout history. </a:t>
            </a:r>
          </a:p>
          <a:p>
            <a:pPr algn="just"/>
            <a:r>
              <a:rPr lang="en-US" b="0" i="0" dirty="0">
                <a:solidFill>
                  <a:srgbClr val="0F1114"/>
                </a:solidFill>
                <a:effectLst/>
                <a:latin typeface="var(--cds-font-family-source-sans-pro)"/>
              </a:rPr>
              <a:t>Before being observed, a particle (such as an electron, photon, or other quantum entity) exists in every possible state in accordance with the laws of the quantum realm. </a:t>
            </a:r>
          </a:p>
          <a:p>
            <a:pPr algn="just"/>
            <a:r>
              <a:rPr lang="en-US" b="0" i="0" dirty="0">
                <a:solidFill>
                  <a:srgbClr val="0F1114"/>
                </a:solidFill>
                <a:effectLst/>
                <a:latin typeface="var(--cds-font-family-source-sans-pro)"/>
              </a:rPr>
              <a:t>We refer to this phenomenon as superposition. </a:t>
            </a:r>
          </a:p>
          <a:p>
            <a:pPr algn="just"/>
            <a:r>
              <a:rPr lang="en-US" b="0" i="0" dirty="0">
                <a:solidFill>
                  <a:srgbClr val="0F1114"/>
                </a:solidFill>
                <a:effectLst/>
                <a:latin typeface="var(--cds-font-family-source-sans-pro)"/>
              </a:rPr>
              <a:t>Schrodinger’s Cat experiment is one example of such a thought experiment. </a:t>
            </a:r>
          </a:p>
          <a:p>
            <a:pPr algn="just"/>
            <a:r>
              <a:rPr lang="en-US" b="0" i="0" dirty="0">
                <a:solidFill>
                  <a:srgbClr val="0F1114"/>
                </a:solidFill>
                <a:effectLst/>
                <a:latin typeface="var(--cds-font-family-source-sans-pro)"/>
              </a:rPr>
              <a:t>Despite its seeming absurdity, Schrodinger’s Cat is a real phenomenon. </a:t>
            </a:r>
          </a:p>
          <a:p>
            <a:pPr algn="just"/>
            <a:r>
              <a:rPr lang="en-US" b="0" i="0" dirty="0">
                <a:solidFill>
                  <a:srgbClr val="0F1114"/>
                </a:solidFill>
                <a:effectLst/>
                <a:latin typeface="var(--cds-font-family-source-sans-pro)"/>
              </a:rPr>
              <a:t>It’s crucial because, without the ability for quantum objects to exist in two states simultaneously, the computers you use would not be able to function.</a:t>
            </a:r>
          </a:p>
        </p:txBody>
      </p:sp>
    </p:spTree>
    <p:extLst>
      <p:ext uri="{BB962C8B-B14F-4D97-AF65-F5344CB8AC3E}">
        <p14:creationId xmlns:p14="http://schemas.microsoft.com/office/powerpoint/2010/main" val="3569426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387B6-B9D1-C6EA-1239-C1D592BAC95F}"/>
              </a:ext>
            </a:extLst>
          </p:cNvPr>
          <p:cNvSpPr>
            <a:spLocks noGrp="1"/>
          </p:cNvSpPr>
          <p:nvPr>
            <p:ph type="title"/>
          </p:nvPr>
        </p:nvSpPr>
        <p:spPr/>
        <p:txBody>
          <a:bodyPr/>
          <a:lstStyle/>
          <a:p>
            <a:r>
              <a:rPr lang="en-US" b="1" dirty="0">
                <a:solidFill>
                  <a:srgbClr val="0F1114"/>
                </a:solidFill>
                <a:latin typeface="Source Sans Pro" panose="020B0503030403020204" pitchFamily="34" charset="0"/>
              </a:rPr>
              <a:t>Building Blocks of Quantum Computing</a:t>
            </a:r>
          </a:p>
        </p:txBody>
      </p:sp>
      <p:sp>
        <p:nvSpPr>
          <p:cNvPr id="3" name="Content Placeholder 2">
            <a:extLst>
              <a:ext uri="{FF2B5EF4-FFF2-40B4-BE49-F238E27FC236}">
                <a16:creationId xmlns:a16="http://schemas.microsoft.com/office/drawing/2014/main" id="{220B6ED9-A6B0-AD68-66B4-EC20CB0A0D53}"/>
              </a:ext>
            </a:extLst>
          </p:cNvPr>
          <p:cNvSpPr>
            <a:spLocks noGrp="1"/>
          </p:cNvSpPr>
          <p:nvPr>
            <p:ph idx="1"/>
          </p:nvPr>
        </p:nvSpPr>
        <p:spPr/>
        <p:txBody>
          <a:bodyPr>
            <a:normAutofit fontScale="77500" lnSpcReduction="20000"/>
          </a:bodyPr>
          <a:lstStyle/>
          <a:p>
            <a:pPr algn="just"/>
            <a:r>
              <a:rPr lang="en-US" b="0" i="0" dirty="0">
                <a:solidFill>
                  <a:srgbClr val="0F1114"/>
                </a:solidFill>
                <a:effectLst/>
                <a:latin typeface="var(--cds-font-family-source-sans-pro)"/>
              </a:rPr>
              <a:t>Our traditional computers use two-bit numbers 0 and 1. However, in the case of a Quantum computer, a bit can exist in a superposition of 0 and 1 with some probability of being 0 and some probability of being 1, which is referred to as Quantum bits or Qubits inspired by Quantum Mechanics laws. </a:t>
            </a:r>
          </a:p>
          <a:p>
            <a:pPr algn="just"/>
            <a:r>
              <a:rPr lang="en-US" b="0" i="0" dirty="0">
                <a:solidFill>
                  <a:srgbClr val="0F1114"/>
                </a:solidFill>
                <a:effectLst/>
                <a:latin typeface="var(--cds-font-family-source-sans-pro)"/>
              </a:rPr>
              <a:t>Classical physics governs humans, and we eventually live in a world represented by classical physical science (for anything larger than a molecule).</a:t>
            </a:r>
          </a:p>
          <a:p>
            <a:pPr algn="just"/>
            <a:r>
              <a:rPr lang="en-US" b="0" i="0" dirty="0">
                <a:solidFill>
                  <a:srgbClr val="0F1114"/>
                </a:solidFill>
                <a:effectLst/>
                <a:latin typeface="var(--cds-font-family-source-sans-pro)"/>
              </a:rPr>
              <a:t> As a result, the output must be classical – but measuring the values causes the qubit to lose its rationality and degrade into one of the potential states that a system can occupy. </a:t>
            </a:r>
          </a:p>
          <a:p>
            <a:pPr algn="just"/>
            <a:r>
              <a:rPr lang="en-US" b="1" i="0" dirty="0">
                <a:solidFill>
                  <a:srgbClr val="0F1114"/>
                </a:solidFill>
                <a:effectLst/>
                <a:latin typeface="var(--cds-font-family-source-sans-pro)"/>
              </a:rPr>
              <a:t>Quantum</a:t>
            </a:r>
            <a:r>
              <a:rPr lang="en-US" b="0" i="0" dirty="0">
                <a:solidFill>
                  <a:srgbClr val="0F1114"/>
                </a:solidFill>
                <a:effectLst/>
                <a:latin typeface="var(--cds-font-family-source-sans-pro)"/>
              </a:rPr>
              <a:t> </a:t>
            </a:r>
            <a:r>
              <a:rPr lang="en-US" b="1" i="0" dirty="0">
                <a:solidFill>
                  <a:srgbClr val="0F1114"/>
                </a:solidFill>
                <a:effectLst/>
                <a:latin typeface="var(--cds-font-family-source-sans-pro)"/>
              </a:rPr>
              <a:t>entanglement</a:t>
            </a:r>
            <a:r>
              <a:rPr lang="en-US" b="0" i="0" dirty="0">
                <a:solidFill>
                  <a:srgbClr val="0F1114"/>
                </a:solidFill>
                <a:effectLst/>
                <a:latin typeface="var(--cds-font-family-source-sans-pro)"/>
              </a:rPr>
              <a:t> is the result of qubits interacting in a way that makes it impossible to determine a bit’s current state on its own without also knowing about other bits. </a:t>
            </a:r>
          </a:p>
          <a:p>
            <a:pPr algn="just"/>
            <a:r>
              <a:rPr lang="en-US" b="0" i="0" dirty="0">
                <a:solidFill>
                  <a:srgbClr val="0F1114"/>
                </a:solidFill>
                <a:effectLst/>
                <a:latin typeface="var(--cds-font-family-source-sans-pro)"/>
              </a:rPr>
              <a:t>To put it simply, each component depends on the other component as it stands at any given time. Large tech companies like Google, IBM, and NASA are already devoting significant financial resources to the development of quantum computing.</a:t>
            </a:r>
            <a:endParaRPr lang="en-US" b="1" i="0" dirty="0">
              <a:solidFill>
                <a:srgbClr val="0F1114"/>
              </a:solidFill>
              <a:effectLst/>
              <a:latin typeface="var(--cds-font-family-source-sans-pro)"/>
            </a:endParaRPr>
          </a:p>
        </p:txBody>
      </p:sp>
    </p:spTree>
    <p:extLst>
      <p:ext uri="{BB962C8B-B14F-4D97-AF65-F5344CB8AC3E}">
        <p14:creationId xmlns:p14="http://schemas.microsoft.com/office/powerpoint/2010/main" val="1899402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138FB-5E88-A998-39A5-B983883A2CA9}"/>
              </a:ext>
            </a:extLst>
          </p:cNvPr>
          <p:cNvSpPr>
            <a:spLocks noGrp="1"/>
          </p:cNvSpPr>
          <p:nvPr>
            <p:ph type="title"/>
          </p:nvPr>
        </p:nvSpPr>
        <p:spPr>
          <a:xfrm>
            <a:off x="690465" y="346464"/>
            <a:ext cx="11129866" cy="1325563"/>
          </a:xfrm>
        </p:spPr>
        <p:txBody>
          <a:bodyPr/>
          <a:lstStyle/>
          <a:p>
            <a:r>
              <a:rPr lang="en-US" b="1" dirty="0">
                <a:solidFill>
                  <a:srgbClr val="0F1114"/>
                </a:solidFill>
                <a:latin typeface="Source Sans Pro" panose="020B0503030403020204" pitchFamily="34" charset="0"/>
              </a:rPr>
              <a:t>Machine learning with Quantum Computing</a:t>
            </a:r>
          </a:p>
        </p:txBody>
      </p:sp>
      <p:sp>
        <p:nvSpPr>
          <p:cNvPr id="3" name="Content Placeholder 2">
            <a:extLst>
              <a:ext uri="{FF2B5EF4-FFF2-40B4-BE49-F238E27FC236}">
                <a16:creationId xmlns:a16="http://schemas.microsoft.com/office/drawing/2014/main" id="{0BD8D915-C891-5BF7-9C24-3D18081FDD7A}"/>
              </a:ext>
            </a:extLst>
          </p:cNvPr>
          <p:cNvSpPr>
            <a:spLocks noGrp="1"/>
          </p:cNvSpPr>
          <p:nvPr>
            <p:ph idx="1"/>
          </p:nvPr>
        </p:nvSpPr>
        <p:spPr>
          <a:xfrm>
            <a:off x="838200" y="1436914"/>
            <a:ext cx="10515600" cy="5074622"/>
          </a:xfrm>
        </p:spPr>
        <p:txBody>
          <a:bodyPr>
            <a:normAutofit fontScale="77500" lnSpcReduction="20000"/>
          </a:bodyPr>
          <a:lstStyle/>
          <a:p>
            <a:r>
              <a:rPr lang="en-US" dirty="0"/>
              <a:t>Machine Learning is all about complicated mathematical calculations with large dimensions of data. </a:t>
            </a:r>
          </a:p>
          <a:p>
            <a:r>
              <a:rPr lang="en-US" dirty="0"/>
              <a:t>Since a qubit can contain both 0 and 1 so we can say</a:t>
            </a:r>
          </a:p>
          <a:p>
            <a:pPr marL="0" indent="0">
              <a:buNone/>
            </a:pPr>
            <a:endParaRPr lang="en-US" dirty="0"/>
          </a:p>
          <a:p>
            <a:pPr marL="0" indent="0">
              <a:buNone/>
            </a:pPr>
            <a:endParaRPr lang="en-US" dirty="0"/>
          </a:p>
          <a:p>
            <a:r>
              <a:rPr lang="en-US" dirty="0"/>
              <a:t>So 1 qubit is 2 bits,2 qubit is 4 bits, 3 Qubit is 8 bits… and so on. </a:t>
            </a:r>
          </a:p>
          <a:p>
            <a:r>
              <a:rPr lang="en-US" dirty="0"/>
              <a:t>Wait are you not impressed? </a:t>
            </a:r>
          </a:p>
          <a:p>
            <a:r>
              <a:rPr lang="en-US" dirty="0"/>
              <a:t>Then let’s just imagine 300 Qubits which is 2^300 i.e. 2^270 GB. </a:t>
            </a:r>
          </a:p>
          <a:p>
            <a:r>
              <a:rPr lang="en-US" dirty="0"/>
              <a:t>We don’t even have that many atoms in the world(never underestimate the power of exponentials). </a:t>
            </a:r>
          </a:p>
          <a:p>
            <a:r>
              <a:rPr lang="en-US" dirty="0"/>
              <a:t>Taking advantage of this classical data is converted into the Quantum data with dimensions reduced exponentially. </a:t>
            </a:r>
          </a:p>
          <a:p>
            <a:r>
              <a:rPr lang="en-US" dirty="0"/>
              <a:t>Quantum data is any data source that occurs in a natural or artificial quantum system. </a:t>
            </a:r>
          </a:p>
          <a:p>
            <a:r>
              <a:rPr lang="en-US" dirty="0"/>
              <a:t>Heuristic machine learning techniques can create models that maximize the extraction of useful classical information from noisy entangled data.</a:t>
            </a:r>
          </a:p>
        </p:txBody>
      </p:sp>
      <p:pic>
        <p:nvPicPr>
          <p:cNvPr id="6" name="Picture 5">
            <a:extLst>
              <a:ext uri="{FF2B5EF4-FFF2-40B4-BE49-F238E27FC236}">
                <a16:creationId xmlns:a16="http://schemas.microsoft.com/office/drawing/2014/main" id="{3753F73B-5E8D-394E-08DD-A761A2C068DC}"/>
              </a:ext>
            </a:extLst>
          </p:cNvPr>
          <p:cNvPicPr>
            <a:picLocks noChangeAspect="1"/>
          </p:cNvPicPr>
          <p:nvPr/>
        </p:nvPicPr>
        <p:blipFill>
          <a:blip r:embed="rId2"/>
          <a:stretch>
            <a:fillRect/>
          </a:stretch>
        </p:blipFill>
        <p:spPr>
          <a:xfrm>
            <a:off x="3703316" y="2528895"/>
            <a:ext cx="2131427" cy="233582"/>
          </a:xfrm>
          <a:prstGeom prst="rect">
            <a:avLst/>
          </a:prstGeom>
        </p:spPr>
      </p:pic>
    </p:spTree>
    <p:extLst>
      <p:ext uri="{BB962C8B-B14F-4D97-AF65-F5344CB8AC3E}">
        <p14:creationId xmlns:p14="http://schemas.microsoft.com/office/powerpoint/2010/main" val="608365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138FB-5E88-A998-39A5-B983883A2CA9}"/>
              </a:ext>
            </a:extLst>
          </p:cNvPr>
          <p:cNvSpPr>
            <a:spLocks noGrp="1"/>
          </p:cNvSpPr>
          <p:nvPr>
            <p:ph type="title"/>
          </p:nvPr>
        </p:nvSpPr>
        <p:spPr>
          <a:xfrm>
            <a:off x="531845" y="365125"/>
            <a:ext cx="11224725" cy="1325563"/>
          </a:xfrm>
        </p:spPr>
        <p:txBody>
          <a:bodyPr/>
          <a:lstStyle/>
          <a:p>
            <a:r>
              <a:rPr lang="en-US" b="1" dirty="0">
                <a:solidFill>
                  <a:srgbClr val="0F1114"/>
                </a:solidFill>
                <a:latin typeface="Source Sans Pro" panose="020B0503030403020204" pitchFamily="34" charset="0"/>
              </a:rPr>
              <a:t>Machine learning with Quantum Computing</a:t>
            </a:r>
          </a:p>
        </p:txBody>
      </p:sp>
      <p:sp>
        <p:nvSpPr>
          <p:cNvPr id="3" name="Content Placeholder 2">
            <a:extLst>
              <a:ext uri="{FF2B5EF4-FFF2-40B4-BE49-F238E27FC236}">
                <a16:creationId xmlns:a16="http://schemas.microsoft.com/office/drawing/2014/main" id="{0BD8D915-C891-5BF7-9C24-3D18081FDD7A}"/>
              </a:ext>
            </a:extLst>
          </p:cNvPr>
          <p:cNvSpPr>
            <a:spLocks noGrp="1"/>
          </p:cNvSpPr>
          <p:nvPr>
            <p:ph idx="1"/>
          </p:nvPr>
        </p:nvSpPr>
        <p:spPr>
          <a:xfrm>
            <a:off x="838200" y="1620351"/>
            <a:ext cx="10515600" cy="4351338"/>
          </a:xfrm>
        </p:spPr>
        <p:txBody>
          <a:bodyPr>
            <a:noAutofit/>
          </a:bodyPr>
          <a:lstStyle/>
          <a:p>
            <a:r>
              <a:rPr lang="en-US" sz="2100" dirty="0"/>
              <a:t>The TensorFlow Quantum (TFQ) library provides primitives for developing models that disentangle and </a:t>
            </a:r>
            <a:r>
              <a:rPr lang="en-US" sz="2100" dirty="0" err="1"/>
              <a:t>generalise</a:t>
            </a:r>
            <a:r>
              <a:rPr lang="en-US" sz="2100" dirty="0"/>
              <a:t> correlations in quantum data, allowing for the improvement of existing quantum algorithms as well as the discovery of new quantum algorithms. </a:t>
            </a:r>
          </a:p>
          <a:p>
            <a:r>
              <a:rPr lang="en-US" sz="2100" dirty="0"/>
              <a:t>In addition, unlike classical computers, where a fixed input bit is sent to a logic gate module for some arithmetic operation and a corresponding fixed bit is obtained as output, quantum computers use quantum logic gates where the input is a superposition bit and the output is also an entangled superposition bit.</a:t>
            </a:r>
          </a:p>
          <a:p>
            <a:r>
              <a:rPr lang="en-US" sz="2100" dirty="0"/>
              <a:t>In this process, the same input qubit can be manipulated to the various required outputs with varying entanglement in the logic gates, allowing us to find patterns and relations in the data more quickly. </a:t>
            </a:r>
          </a:p>
          <a:p>
            <a:r>
              <a:rPr lang="en-US" sz="2100" dirty="0"/>
              <a:t>While performing the same task in a classical computer, and in some cases, supercomputers also can take very years to calculate because of limitations in the computation power. </a:t>
            </a:r>
          </a:p>
          <a:p>
            <a:r>
              <a:rPr lang="en-US" sz="2100" dirty="0"/>
              <a:t>And that’s what machine learning is all about finding hidden patterns in the data.</a:t>
            </a:r>
          </a:p>
        </p:txBody>
      </p:sp>
    </p:spTree>
    <p:extLst>
      <p:ext uri="{BB962C8B-B14F-4D97-AF65-F5344CB8AC3E}">
        <p14:creationId xmlns:p14="http://schemas.microsoft.com/office/powerpoint/2010/main" val="525790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33C1-0E4F-422C-06FC-6EFDCB5CA665}"/>
              </a:ext>
            </a:extLst>
          </p:cNvPr>
          <p:cNvSpPr>
            <a:spLocks noGrp="1"/>
          </p:cNvSpPr>
          <p:nvPr>
            <p:ph type="title"/>
          </p:nvPr>
        </p:nvSpPr>
        <p:spPr/>
        <p:txBody>
          <a:bodyPr/>
          <a:lstStyle/>
          <a:p>
            <a:r>
              <a:rPr lang="en-US" b="1" dirty="0"/>
              <a:t>Why QML</a:t>
            </a:r>
          </a:p>
        </p:txBody>
      </p:sp>
      <p:sp>
        <p:nvSpPr>
          <p:cNvPr id="3" name="Content Placeholder 2">
            <a:extLst>
              <a:ext uri="{FF2B5EF4-FFF2-40B4-BE49-F238E27FC236}">
                <a16:creationId xmlns:a16="http://schemas.microsoft.com/office/drawing/2014/main" id="{F35B4E29-EA60-1CB4-2647-E44A12FAA641}"/>
              </a:ext>
            </a:extLst>
          </p:cNvPr>
          <p:cNvSpPr>
            <a:spLocks noGrp="1"/>
          </p:cNvSpPr>
          <p:nvPr>
            <p:ph idx="1"/>
          </p:nvPr>
        </p:nvSpPr>
        <p:spPr>
          <a:xfrm>
            <a:off x="838200" y="1825625"/>
            <a:ext cx="10515600" cy="2438464"/>
          </a:xfrm>
        </p:spPr>
        <p:txBody>
          <a:bodyPr>
            <a:normAutofit fontScale="92500" lnSpcReduction="10000"/>
          </a:bodyPr>
          <a:lstStyle/>
          <a:p>
            <a:r>
              <a:rPr lang="en-US" dirty="0"/>
              <a:t>Machine learning (ML) has proven to be super useful in everyday life</a:t>
            </a:r>
          </a:p>
          <a:p>
            <a:r>
              <a:rPr lang="en-US" dirty="0"/>
              <a:t>ML today already uses different processors: CPUs, GPUs, TPUs, etc.</a:t>
            </a:r>
          </a:p>
          <a:p>
            <a:r>
              <a:rPr lang="en-US" dirty="0"/>
              <a:t>Quantum computers (QPUs) could be used as special-purpose ML accelerators</a:t>
            </a:r>
          </a:p>
          <a:p>
            <a:r>
              <a:rPr lang="en-US" dirty="0"/>
              <a:t>May enable training of previously intractable models by leveraging the power of quantum mechanics</a:t>
            </a:r>
          </a:p>
        </p:txBody>
      </p:sp>
      <p:pic>
        <p:nvPicPr>
          <p:cNvPr id="5" name="Picture 4">
            <a:extLst>
              <a:ext uri="{FF2B5EF4-FFF2-40B4-BE49-F238E27FC236}">
                <a16:creationId xmlns:a16="http://schemas.microsoft.com/office/drawing/2014/main" id="{E53A11BB-3ED3-DD0F-9E1F-E2D95C4FCBD6}"/>
              </a:ext>
            </a:extLst>
          </p:cNvPr>
          <p:cNvPicPr>
            <a:picLocks noChangeAspect="1"/>
          </p:cNvPicPr>
          <p:nvPr/>
        </p:nvPicPr>
        <p:blipFill>
          <a:blip r:embed="rId2"/>
          <a:stretch>
            <a:fillRect/>
          </a:stretch>
        </p:blipFill>
        <p:spPr>
          <a:xfrm>
            <a:off x="1142570" y="4264089"/>
            <a:ext cx="9906859" cy="2514220"/>
          </a:xfrm>
          <a:prstGeom prst="rect">
            <a:avLst/>
          </a:prstGeom>
        </p:spPr>
      </p:pic>
    </p:spTree>
    <p:extLst>
      <p:ext uri="{BB962C8B-B14F-4D97-AF65-F5344CB8AC3E}">
        <p14:creationId xmlns:p14="http://schemas.microsoft.com/office/powerpoint/2010/main" val="3770191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33C1-0E4F-422C-06FC-6EFDCB5CA665}"/>
              </a:ext>
            </a:extLst>
          </p:cNvPr>
          <p:cNvSpPr>
            <a:spLocks noGrp="1"/>
          </p:cNvSpPr>
          <p:nvPr>
            <p:ph type="title"/>
          </p:nvPr>
        </p:nvSpPr>
        <p:spPr/>
        <p:txBody>
          <a:bodyPr/>
          <a:lstStyle/>
          <a:p>
            <a:r>
              <a:rPr lang="en-US" b="1" dirty="0"/>
              <a:t>Why QML</a:t>
            </a:r>
          </a:p>
        </p:txBody>
      </p:sp>
      <p:sp>
        <p:nvSpPr>
          <p:cNvPr id="3" name="Content Placeholder 2">
            <a:extLst>
              <a:ext uri="{FF2B5EF4-FFF2-40B4-BE49-F238E27FC236}">
                <a16:creationId xmlns:a16="http://schemas.microsoft.com/office/drawing/2014/main" id="{F35B4E29-EA60-1CB4-2647-E44A12FAA641}"/>
              </a:ext>
            </a:extLst>
          </p:cNvPr>
          <p:cNvSpPr>
            <a:spLocks noGrp="1"/>
          </p:cNvSpPr>
          <p:nvPr>
            <p:ph idx="1"/>
          </p:nvPr>
        </p:nvSpPr>
        <p:spPr>
          <a:xfrm>
            <a:off x="838200" y="1825625"/>
            <a:ext cx="10515600" cy="2438464"/>
          </a:xfrm>
        </p:spPr>
        <p:txBody>
          <a:bodyPr>
            <a:normAutofit/>
          </a:bodyPr>
          <a:lstStyle/>
          <a:p>
            <a:r>
              <a:rPr lang="en-US" dirty="0"/>
              <a:t>Quantum computing could also lead to new machine learning models</a:t>
            </a:r>
          </a:p>
          <a:p>
            <a:r>
              <a:rPr lang="en-US" dirty="0"/>
              <a:t>Examples: Quantum kernel methods, Quantum neural networks (QNNs), </a:t>
            </a:r>
            <a:r>
              <a:rPr lang="en-US" dirty="0" err="1"/>
              <a:t>Quanvolutional</a:t>
            </a:r>
            <a:r>
              <a:rPr lang="en-US" dirty="0"/>
              <a:t> neural networks, Quantum Boltzmann machines, Quantum generative adversarial networks (</a:t>
            </a:r>
            <a:r>
              <a:rPr lang="en-US" dirty="0" err="1"/>
              <a:t>qGANs</a:t>
            </a:r>
            <a:r>
              <a:rPr lang="en-US" dirty="0"/>
              <a:t>)</a:t>
            </a:r>
          </a:p>
          <a:p>
            <a:endParaRPr lang="en-US" dirty="0"/>
          </a:p>
        </p:txBody>
      </p:sp>
      <p:pic>
        <p:nvPicPr>
          <p:cNvPr id="6" name="Picture 5">
            <a:extLst>
              <a:ext uri="{FF2B5EF4-FFF2-40B4-BE49-F238E27FC236}">
                <a16:creationId xmlns:a16="http://schemas.microsoft.com/office/drawing/2014/main" id="{56257DCF-8DC8-3E63-1E75-1A78B5BF4CFC}"/>
              </a:ext>
            </a:extLst>
          </p:cNvPr>
          <p:cNvPicPr>
            <a:picLocks noChangeAspect="1"/>
          </p:cNvPicPr>
          <p:nvPr/>
        </p:nvPicPr>
        <p:blipFill>
          <a:blip r:embed="rId2"/>
          <a:stretch>
            <a:fillRect/>
          </a:stretch>
        </p:blipFill>
        <p:spPr>
          <a:xfrm>
            <a:off x="3996023" y="4179866"/>
            <a:ext cx="4610500" cy="2118544"/>
          </a:xfrm>
          <a:prstGeom prst="rect">
            <a:avLst/>
          </a:prstGeom>
        </p:spPr>
      </p:pic>
    </p:spTree>
    <p:extLst>
      <p:ext uri="{BB962C8B-B14F-4D97-AF65-F5344CB8AC3E}">
        <p14:creationId xmlns:p14="http://schemas.microsoft.com/office/powerpoint/2010/main" val="608619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AD665-AFEE-6E36-840B-78ECD9A79DA9}"/>
              </a:ext>
            </a:extLst>
          </p:cNvPr>
          <p:cNvSpPr>
            <a:spLocks noGrp="1"/>
          </p:cNvSpPr>
          <p:nvPr>
            <p:ph type="title"/>
          </p:nvPr>
        </p:nvSpPr>
        <p:spPr/>
        <p:txBody>
          <a:bodyPr/>
          <a:lstStyle/>
          <a:p>
            <a:r>
              <a:rPr lang="en-US" b="1" dirty="0"/>
              <a:t>QML approaches</a:t>
            </a:r>
          </a:p>
        </p:txBody>
      </p:sp>
      <p:pic>
        <p:nvPicPr>
          <p:cNvPr id="5" name="Picture 4">
            <a:extLst>
              <a:ext uri="{FF2B5EF4-FFF2-40B4-BE49-F238E27FC236}">
                <a16:creationId xmlns:a16="http://schemas.microsoft.com/office/drawing/2014/main" id="{3C3A9DBB-9492-740B-4DD7-8723BD4DDC9B}"/>
              </a:ext>
            </a:extLst>
          </p:cNvPr>
          <p:cNvPicPr>
            <a:picLocks noChangeAspect="1"/>
          </p:cNvPicPr>
          <p:nvPr/>
        </p:nvPicPr>
        <p:blipFill>
          <a:blip r:embed="rId2"/>
          <a:stretch>
            <a:fillRect/>
          </a:stretch>
        </p:blipFill>
        <p:spPr>
          <a:xfrm>
            <a:off x="654798" y="1690688"/>
            <a:ext cx="10882404" cy="4444366"/>
          </a:xfrm>
          <a:prstGeom prst="rect">
            <a:avLst/>
          </a:prstGeom>
        </p:spPr>
      </p:pic>
    </p:spTree>
    <p:extLst>
      <p:ext uri="{BB962C8B-B14F-4D97-AF65-F5344CB8AC3E}">
        <p14:creationId xmlns:p14="http://schemas.microsoft.com/office/powerpoint/2010/main" val="4139708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9D536-25B2-D964-FE87-EB023579CF5B}"/>
              </a:ext>
            </a:extLst>
          </p:cNvPr>
          <p:cNvSpPr>
            <a:spLocks noGrp="1"/>
          </p:cNvSpPr>
          <p:nvPr>
            <p:ph type="title"/>
          </p:nvPr>
        </p:nvSpPr>
        <p:spPr/>
        <p:txBody>
          <a:bodyPr/>
          <a:lstStyle/>
          <a:p>
            <a:r>
              <a:rPr lang="en-US" b="1" dirty="0"/>
              <a:t>Key concepts of QML</a:t>
            </a:r>
          </a:p>
        </p:txBody>
      </p:sp>
      <p:sp>
        <p:nvSpPr>
          <p:cNvPr id="3" name="Content Placeholder 2">
            <a:extLst>
              <a:ext uri="{FF2B5EF4-FFF2-40B4-BE49-F238E27FC236}">
                <a16:creationId xmlns:a16="http://schemas.microsoft.com/office/drawing/2014/main" id="{36CC5764-A423-B103-8C18-822480FE1A89}"/>
              </a:ext>
            </a:extLst>
          </p:cNvPr>
          <p:cNvSpPr>
            <a:spLocks noGrp="1"/>
          </p:cNvSpPr>
          <p:nvPr>
            <p:ph idx="1"/>
          </p:nvPr>
        </p:nvSpPr>
        <p:spPr/>
        <p:txBody>
          <a:bodyPr>
            <a:normAutofit fontScale="92500" lnSpcReduction="20000"/>
          </a:bodyPr>
          <a:lstStyle/>
          <a:p>
            <a:r>
              <a:rPr lang="en-US" b="1" dirty="0"/>
              <a:t>Variational quantum circuits (VQCs</a:t>
            </a:r>
            <a:r>
              <a:rPr lang="en-US" dirty="0"/>
              <a:t>) </a:t>
            </a:r>
          </a:p>
          <a:p>
            <a:r>
              <a:rPr lang="en-US" dirty="0"/>
              <a:t>Main QML method for noisy intermediate-scale quantum (NISQ) devices </a:t>
            </a:r>
          </a:p>
          <a:p>
            <a:r>
              <a:rPr lang="en-US" dirty="0"/>
              <a:t>Structure similar to other modern quantum algorithms: e.g. variational quantum </a:t>
            </a:r>
            <a:r>
              <a:rPr lang="en-US" dirty="0" err="1"/>
              <a:t>eigensolver</a:t>
            </a:r>
            <a:r>
              <a:rPr lang="en-US" dirty="0"/>
              <a:t> (VQE), quantum approximate optimization algorithm (QAOA) </a:t>
            </a:r>
          </a:p>
          <a:p>
            <a:endParaRPr lang="en-US" dirty="0"/>
          </a:p>
          <a:p>
            <a:r>
              <a:rPr lang="en-US" b="1" dirty="0"/>
              <a:t>General steps: </a:t>
            </a:r>
          </a:p>
          <a:p>
            <a:pPr marL="0" indent="0">
              <a:buNone/>
            </a:pPr>
            <a:r>
              <a:rPr lang="en-US" dirty="0"/>
              <a:t>1. Preparation of a fixed initial state </a:t>
            </a:r>
          </a:p>
          <a:p>
            <a:pPr marL="0" indent="0">
              <a:buNone/>
            </a:pPr>
            <a:r>
              <a:rPr lang="en-US" dirty="0"/>
              <a:t>2. Encode classical data into a quantum state (encoding/embedding layer) </a:t>
            </a:r>
          </a:p>
          <a:p>
            <a:pPr marL="0" indent="0">
              <a:buNone/>
            </a:pPr>
            <a:r>
              <a:rPr lang="en-US" dirty="0"/>
              <a:t>3. Apply a parameterized model (processing layer) </a:t>
            </a:r>
          </a:p>
          <a:p>
            <a:pPr marL="0" indent="0">
              <a:buNone/>
            </a:pPr>
            <a:r>
              <a:rPr lang="en-US" dirty="0"/>
              <a:t>4. Perform measurements to extract observables</a:t>
            </a:r>
          </a:p>
        </p:txBody>
      </p:sp>
    </p:spTree>
    <p:extLst>
      <p:ext uri="{BB962C8B-B14F-4D97-AF65-F5344CB8AC3E}">
        <p14:creationId xmlns:p14="http://schemas.microsoft.com/office/powerpoint/2010/main" val="3472157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103D-0FE4-B402-492A-B4617F2E9B0E}"/>
              </a:ext>
            </a:extLst>
          </p:cNvPr>
          <p:cNvSpPr>
            <a:spLocks noGrp="1"/>
          </p:cNvSpPr>
          <p:nvPr>
            <p:ph type="title"/>
          </p:nvPr>
        </p:nvSpPr>
        <p:spPr/>
        <p:txBody>
          <a:bodyPr/>
          <a:lstStyle/>
          <a:p>
            <a:r>
              <a:rPr lang="en-US" b="1" dirty="0"/>
              <a:t>Variational quantum circuits (VQCs</a:t>
            </a:r>
            <a:r>
              <a:rPr lang="en-US" dirty="0"/>
              <a:t>) </a:t>
            </a:r>
          </a:p>
        </p:txBody>
      </p:sp>
      <p:pic>
        <p:nvPicPr>
          <p:cNvPr id="5" name="Picture 4">
            <a:extLst>
              <a:ext uri="{FF2B5EF4-FFF2-40B4-BE49-F238E27FC236}">
                <a16:creationId xmlns:a16="http://schemas.microsoft.com/office/drawing/2014/main" id="{23AFDCED-23B6-4E28-4371-54C4831D7C6D}"/>
              </a:ext>
            </a:extLst>
          </p:cNvPr>
          <p:cNvPicPr>
            <a:picLocks noChangeAspect="1"/>
          </p:cNvPicPr>
          <p:nvPr/>
        </p:nvPicPr>
        <p:blipFill>
          <a:blip r:embed="rId2"/>
          <a:stretch>
            <a:fillRect/>
          </a:stretch>
        </p:blipFill>
        <p:spPr>
          <a:xfrm>
            <a:off x="1800808" y="2221125"/>
            <a:ext cx="8059798" cy="2920042"/>
          </a:xfrm>
          <a:prstGeom prst="rect">
            <a:avLst/>
          </a:prstGeom>
        </p:spPr>
      </p:pic>
    </p:spTree>
    <p:extLst>
      <p:ext uri="{BB962C8B-B14F-4D97-AF65-F5344CB8AC3E}">
        <p14:creationId xmlns:p14="http://schemas.microsoft.com/office/powerpoint/2010/main" val="1786768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896D-8F0D-223F-0999-5A4810FEFEF9}"/>
              </a:ext>
            </a:extLst>
          </p:cNvPr>
          <p:cNvSpPr>
            <a:spLocks noGrp="1"/>
          </p:cNvSpPr>
          <p:nvPr>
            <p:ph type="title"/>
          </p:nvPr>
        </p:nvSpPr>
        <p:spPr/>
        <p:txBody>
          <a:bodyPr/>
          <a:lstStyle/>
          <a:p>
            <a:r>
              <a:rPr lang="en-US" b="1" dirty="0"/>
              <a:t>Key concepts of QML</a:t>
            </a:r>
          </a:p>
        </p:txBody>
      </p:sp>
      <p:sp>
        <p:nvSpPr>
          <p:cNvPr id="3" name="Content Placeholder 2">
            <a:extLst>
              <a:ext uri="{FF2B5EF4-FFF2-40B4-BE49-F238E27FC236}">
                <a16:creationId xmlns:a16="http://schemas.microsoft.com/office/drawing/2014/main" id="{4C4CAA18-15E8-8BB8-1E4A-C025DAB94001}"/>
              </a:ext>
            </a:extLst>
          </p:cNvPr>
          <p:cNvSpPr>
            <a:spLocks noGrp="1"/>
          </p:cNvSpPr>
          <p:nvPr>
            <p:ph idx="1"/>
          </p:nvPr>
        </p:nvSpPr>
        <p:spPr/>
        <p:txBody>
          <a:bodyPr>
            <a:normAutofit fontScale="92500" lnSpcReduction="20000"/>
          </a:bodyPr>
          <a:lstStyle/>
          <a:p>
            <a:r>
              <a:rPr lang="en-US" b="1" dirty="0"/>
              <a:t>Quantum circuit training</a:t>
            </a:r>
          </a:p>
          <a:p>
            <a:r>
              <a:rPr lang="en-US" dirty="0"/>
              <a:t>How to train variational quantum circuits like we train neural networks?</a:t>
            </a:r>
          </a:p>
          <a:p>
            <a:r>
              <a:rPr lang="en-US" dirty="0"/>
              <a:t>Most widely used method: gradient descent - SGD, Adam, natural gradient, </a:t>
            </a:r>
            <a:r>
              <a:rPr lang="en-US" dirty="0" err="1"/>
              <a:t>etc</a:t>
            </a:r>
            <a:r>
              <a:rPr lang="en-US" dirty="0"/>
              <a:t>; all of them require one important ingredient: the gradient of a circuit’s output with respect to its input parameters </a:t>
            </a:r>
          </a:p>
          <a:p>
            <a:r>
              <a:rPr lang="en-US" b="1" dirty="0"/>
              <a:t>Backpropagation</a:t>
            </a:r>
            <a:r>
              <a:rPr lang="en-US" dirty="0"/>
              <a:t>: powers modern deep learning models</a:t>
            </a:r>
          </a:p>
          <a:p>
            <a:pPr lvl="1"/>
            <a:r>
              <a:rPr lang="en-US" dirty="0"/>
              <a:t>Pros: nice scaling properties </a:t>
            </a:r>
            <a:r>
              <a:rPr lang="en-US" dirty="0" err="1"/>
              <a:t>w.r.t.</a:t>
            </a:r>
            <a:r>
              <a:rPr lang="en-US" dirty="0"/>
              <a:t> the number of parameters</a:t>
            </a:r>
          </a:p>
          <a:p>
            <a:pPr lvl="1"/>
            <a:r>
              <a:rPr lang="en-US" dirty="0"/>
              <a:t>Cons: increased memory usage to store all intermediate values; can’t be used directly on quantum computers </a:t>
            </a:r>
          </a:p>
          <a:p>
            <a:r>
              <a:rPr lang="en-US" sz="2800" b="1" dirty="0"/>
              <a:t>Parameter-shift rule</a:t>
            </a:r>
            <a:endParaRPr lang="en-US" dirty="0"/>
          </a:p>
          <a:p>
            <a:pPr lvl="1"/>
            <a:r>
              <a:rPr lang="en-US" dirty="0"/>
              <a:t>Pros: allows us to compute the function and its gradient on the same quantum device; gives exact gradients</a:t>
            </a:r>
          </a:p>
          <a:p>
            <a:pPr lvl="1"/>
            <a:r>
              <a:rPr lang="en-US" dirty="0"/>
              <a:t>Cons: scales roughly linearly with the number of parameters</a:t>
            </a:r>
          </a:p>
        </p:txBody>
      </p:sp>
      <p:pic>
        <p:nvPicPr>
          <p:cNvPr id="5" name="Picture 4">
            <a:extLst>
              <a:ext uri="{FF2B5EF4-FFF2-40B4-BE49-F238E27FC236}">
                <a16:creationId xmlns:a16="http://schemas.microsoft.com/office/drawing/2014/main" id="{D76EE953-E682-C518-2568-01A2FEC0C959}"/>
              </a:ext>
            </a:extLst>
          </p:cNvPr>
          <p:cNvPicPr>
            <a:picLocks noChangeAspect="1"/>
          </p:cNvPicPr>
          <p:nvPr/>
        </p:nvPicPr>
        <p:blipFill>
          <a:blip r:embed="rId2"/>
          <a:stretch>
            <a:fillRect/>
          </a:stretch>
        </p:blipFill>
        <p:spPr>
          <a:xfrm>
            <a:off x="7197352" y="149080"/>
            <a:ext cx="4701947" cy="1676545"/>
          </a:xfrm>
          <a:prstGeom prst="rect">
            <a:avLst/>
          </a:prstGeom>
        </p:spPr>
      </p:pic>
    </p:spTree>
    <p:extLst>
      <p:ext uri="{BB962C8B-B14F-4D97-AF65-F5344CB8AC3E}">
        <p14:creationId xmlns:p14="http://schemas.microsoft.com/office/powerpoint/2010/main" val="44713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98225-BD60-37B0-852F-7AFBB70354BA}"/>
              </a:ext>
            </a:extLst>
          </p:cNvPr>
          <p:cNvSpPr>
            <a:spLocks noGrp="1"/>
          </p:cNvSpPr>
          <p:nvPr>
            <p:ph type="title"/>
          </p:nvPr>
        </p:nvSpPr>
        <p:spPr/>
        <p:txBody>
          <a:bodyPr/>
          <a:lstStyle/>
          <a:p>
            <a:r>
              <a:rPr lang="en-US" b="1" dirty="0"/>
              <a:t>Key concepts of QML</a:t>
            </a:r>
          </a:p>
        </p:txBody>
      </p:sp>
      <p:sp>
        <p:nvSpPr>
          <p:cNvPr id="3" name="Content Placeholder 2">
            <a:extLst>
              <a:ext uri="{FF2B5EF4-FFF2-40B4-BE49-F238E27FC236}">
                <a16:creationId xmlns:a16="http://schemas.microsoft.com/office/drawing/2014/main" id="{B8E76801-498F-0CB8-673F-9678BB25B0AD}"/>
              </a:ext>
            </a:extLst>
          </p:cNvPr>
          <p:cNvSpPr>
            <a:spLocks noGrp="1"/>
          </p:cNvSpPr>
          <p:nvPr>
            <p:ph idx="1"/>
          </p:nvPr>
        </p:nvSpPr>
        <p:spPr>
          <a:xfrm>
            <a:off x="838200" y="1825625"/>
            <a:ext cx="10515600" cy="4827102"/>
          </a:xfrm>
        </p:spPr>
        <p:txBody>
          <a:bodyPr>
            <a:normAutofit fontScale="92500" lnSpcReduction="10000"/>
          </a:bodyPr>
          <a:lstStyle/>
          <a:p>
            <a:r>
              <a:rPr lang="en-US" dirty="0"/>
              <a:t>Hybrid computation </a:t>
            </a:r>
          </a:p>
          <a:p>
            <a:pPr lvl="1"/>
            <a:r>
              <a:rPr lang="en-US" dirty="0"/>
              <a:t>Use quantum computers together with classical processors (CPUs, GPUs)</a:t>
            </a:r>
          </a:p>
          <a:p>
            <a:pPr lvl="2"/>
            <a:r>
              <a:rPr lang="en-US" dirty="0"/>
              <a:t>Classical optimization loop</a:t>
            </a:r>
          </a:p>
          <a:p>
            <a:pPr lvl="2"/>
            <a:r>
              <a:rPr lang="en-US" dirty="0"/>
              <a:t>Pre-/post-process quantum circuits outputs</a:t>
            </a:r>
          </a:p>
          <a:p>
            <a:pPr lvl="2"/>
            <a:r>
              <a:rPr lang="en-US" dirty="0"/>
              <a:t>Arbitrarily structured hybrid computations</a:t>
            </a:r>
          </a:p>
          <a:p>
            <a:endParaRPr lang="en-US" dirty="0"/>
          </a:p>
          <a:p>
            <a:endParaRPr lang="en-US" dirty="0"/>
          </a:p>
          <a:p>
            <a:endParaRPr lang="en-US" dirty="0"/>
          </a:p>
          <a:p>
            <a:endParaRPr lang="en-US" dirty="0"/>
          </a:p>
          <a:p>
            <a:endParaRPr lang="en-US" dirty="0"/>
          </a:p>
          <a:p>
            <a:endParaRPr lang="en-US" dirty="0"/>
          </a:p>
          <a:p>
            <a:r>
              <a:rPr lang="en-US" dirty="0"/>
              <a:t>Hybrid quantum-classical neural networks</a:t>
            </a:r>
          </a:p>
        </p:txBody>
      </p:sp>
      <p:pic>
        <p:nvPicPr>
          <p:cNvPr id="5" name="Picture 4">
            <a:extLst>
              <a:ext uri="{FF2B5EF4-FFF2-40B4-BE49-F238E27FC236}">
                <a16:creationId xmlns:a16="http://schemas.microsoft.com/office/drawing/2014/main" id="{6E52873D-083F-27A6-5C78-516C55DA56F4}"/>
              </a:ext>
            </a:extLst>
          </p:cNvPr>
          <p:cNvPicPr>
            <a:picLocks noChangeAspect="1"/>
          </p:cNvPicPr>
          <p:nvPr/>
        </p:nvPicPr>
        <p:blipFill>
          <a:blip r:embed="rId2"/>
          <a:stretch>
            <a:fillRect/>
          </a:stretch>
        </p:blipFill>
        <p:spPr>
          <a:xfrm>
            <a:off x="1101012" y="3578289"/>
            <a:ext cx="8873412" cy="2561254"/>
          </a:xfrm>
          <a:prstGeom prst="rect">
            <a:avLst/>
          </a:prstGeom>
        </p:spPr>
      </p:pic>
    </p:spTree>
    <p:extLst>
      <p:ext uri="{BB962C8B-B14F-4D97-AF65-F5344CB8AC3E}">
        <p14:creationId xmlns:p14="http://schemas.microsoft.com/office/powerpoint/2010/main" val="1122756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B191A-8A35-C703-D581-A9F6C552375F}"/>
              </a:ext>
            </a:extLst>
          </p:cNvPr>
          <p:cNvSpPr>
            <a:spLocks noGrp="1"/>
          </p:cNvSpPr>
          <p:nvPr>
            <p:ph type="title"/>
          </p:nvPr>
        </p:nvSpPr>
        <p:spPr/>
        <p:txBody>
          <a:bodyPr/>
          <a:lstStyle/>
          <a:p>
            <a:r>
              <a:rPr lang="en-US" b="1" dirty="0"/>
              <a:t>Hybrid NNs</a:t>
            </a:r>
          </a:p>
        </p:txBody>
      </p:sp>
      <p:sp>
        <p:nvSpPr>
          <p:cNvPr id="3" name="Content Placeholder 2">
            <a:extLst>
              <a:ext uri="{FF2B5EF4-FFF2-40B4-BE49-F238E27FC236}">
                <a16:creationId xmlns:a16="http://schemas.microsoft.com/office/drawing/2014/main" id="{6448A005-8774-30AE-EC0D-87A89666C767}"/>
              </a:ext>
            </a:extLst>
          </p:cNvPr>
          <p:cNvSpPr>
            <a:spLocks noGrp="1"/>
          </p:cNvSpPr>
          <p:nvPr>
            <p:ph idx="1"/>
          </p:nvPr>
        </p:nvSpPr>
        <p:spPr/>
        <p:txBody>
          <a:bodyPr/>
          <a:lstStyle/>
          <a:p>
            <a:r>
              <a:rPr lang="en-US" dirty="0"/>
              <a:t>Classical neural network with a quantum component</a:t>
            </a:r>
          </a:p>
          <a:p>
            <a:endParaRPr lang="en-US" dirty="0"/>
          </a:p>
        </p:txBody>
      </p:sp>
      <p:pic>
        <p:nvPicPr>
          <p:cNvPr id="5" name="Picture 4">
            <a:extLst>
              <a:ext uri="{FF2B5EF4-FFF2-40B4-BE49-F238E27FC236}">
                <a16:creationId xmlns:a16="http://schemas.microsoft.com/office/drawing/2014/main" id="{D34BBDD7-2A12-B2E4-4A1B-D16FDD1503D7}"/>
              </a:ext>
            </a:extLst>
          </p:cNvPr>
          <p:cNvPicPr>
            <a:picLocks noChangeAspect="1"/>
          </p:cNvPicPr>
          <p:nvPr/>
        </p:nvPicPr>
        <p:blipFill>
          <a:blip r:embed="rId2"/>
          <a:srcRect r="18659"/>
          <a:stretch/>
        </p:blipFill>
        <p:spPr>
          <a:xfrm>
            <a:off x="1630806" y="2470445"/>
            <a:ext cx="6589463" cy="4022430"/>
          </a:xfrm>
          <a:prstGeom prst="rect">
            <a:avLst/>
          </a:prstGeom>
        </p:spPr>
      </p:pic>
    </p:spTree>
    <p:extLst>
      <p:ext uri="{BB962C8B-B14F-4D97-AF65-F5344CB8AC3E}">
        <p14:creationId xmlns:p14="http://schemas.microsoft.com/office/powerpoint/2010/main" val="596191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6A2A-69D8-74F6-3703-95A317D8B2D0}"/>
              </a:ext>
            </a:extLst>
          </p:cNvPr>
          <p:cNvSpPr>
            <a:spLocks noGrp="1"/>
          </p:cNvSpPr>
          <p:nvPr>
            <p:ph type="title"/>
          </p:nvPr>
        </p:nvSpPr>
        <p:spPr/>
        <p:txBody>
          <a:bodyPr>
            <a:normAutofit fontScale="90000"/>
          </a:bodyPr>
          <a:lstStyle/>
          <a:p>
            <a:r>
              <a:rPr lang="en-US" b="1" dirty="0"/>
              <a:t>Applications of Quantum Computing imposed with Machine Learning</a:t>
            </a:r>
            <a:br>
              <a:rPr lang="en-US" b="1" dirty="0"/>
            </a:br>
            <a:endParaRPr lang="en-US" b="1" dirty="0"/>
          </a:p>
        </p:txBody>
      </p:sp>
      <p:sp>
        <p:nvSpPr>
          <p:cNvPr id="3" name="Content Placeholder 2">
            <a:extLst>
              <a:ext uri="{FF2B5EF4-FFF2-40B4-BE49-F238E27FC236}">
                <a16:creationId xmlns:a16="http://schemas.microsoft.com/office/drawing/2014/main" id="{0F12E932-7B00-263E-A461-8CA4C62BFBDC}"/>
              </a:ext>
            </a:extLst>
          </p:cNvPr>
          <p:cNvSpPr>
            <a:spLocks noGrp="1"/>
          </p:cNvSpPr>
          <p:nvPr>
            <p:ph idx="1"/>
          </p:nvPr>
        </p:nvSpPr>
        <p:spPr/>
        <p:txBody>
          <a:bodyPr>
            <a:normAutofit fontScale="77500" lnSpcReduction="20000"/>
          </a:bodyPr>
          <a:lstStyle/>
          <a:p>
            <a:pPr marL="0" indent="0">
              <a:buNone/>
            </a:pPr>
            <a:r>
              <a:rPr lang="en-US" dirty="0"/>
              <a:t>Several uses for quantum computing in conjunction with machine learning include;</a:t>
            </a:r>
          </a:p>
          <a:p>
            <a:pPr marL="0" indent="0">
              <a:buNone/>
            </a:pPr>
            <a:endParaRPr lang="en-US" dirty="0"/>
          </a:p>
          <a:p>
            <a:r>
              <a:rPr lang="en-US" dirty="0"/>
              <a:t>One of the most intriguing and potent subfields of machine learning is deep learning, which necessitates extensive matrix and linear multiplication. </a:t>
            </a:r>
          </a:p>
          <a:p>
            <a:r>
              <a:rPr lang="en-US" dirty="0"/>
              <a:t>Massive matrix multiplication is necessary for neural networks, but loading the same onto a quantum logic gate is a non-trivial task that can be completed very quickly due to the quantum properties of the gate. </a:t>
            </a:r>
          </a:p>
          <a:p>
            <a:r>
              <a:rPr lang="en-US" dirty="0"/>
              <a:t>This allows the multiplication of an exponentially large matrix with a similarly large vector.</a:t>
            </a:r>
          </a:p>
          <a:p>
            <a:r>
              <a:rPr lang="en-US" dirty="0"/>
              <a:t>The design of pharmaceuticals and medical equipment, which is a laborious task even for supercomputers, can be impacted by quantum machine learning. </a:t>
            </a:r>
          </a:p>
          <a:p>
            <a:r>
              <a:rPr lang="en-US" dirty="0"/>
              <a:t>This is because quantum machine learning necessitates the computationally challenging description and computation of every quantum property of an atom in a molecule. </a:t>
            </a:r>
          </a:p>
          <a:p>
            <a:r>
              <a:rPr lang="en-US" dirty="0"/>
              <a:t>However, since a quantum computer uses the same properties, it performs better.</a:t>
            </a:r>
          </a:p>
        </p:txBody>
      </p:sp>
    </p:spTree>
    <p:extLst>
      <p:ext uri="{BB962C8B-B14F-4D97-AF65-F5344CB8AC3E}">
        <p14:creationId xmlns:p14="http://schemas.microsoft.com/office/powerpoint/2010/main" val="367174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356C-6D6C-5C2D-F3F3-B05866D4FBE4}"/>
              </a:ext>
            </a:extLst>
          </p:cNvPr>
          <p:cNvSpPr>
            <a:spLocks noGrp="1"/>
          </p:cNvSpPr>
          <p:nvPr>
            <p:ph type="title"/>
          </p:nvPr>
        </p:nvSpPr>
        <p:spPr/>
        <p:txBody>
          <a:bodyPr>
            <a:normAutofit/>
          </a:bodyPr>
          <a:lstStyle/>
          <a:p>
            <a:r>
              <a:rPr lang="en-US" b="1" dirty="0"/>
              <a:t>Applications of Quantum Computing imposed with Machine Learning</a:t>
            </a:r>
            <a:endParaRPr lang="en-US" dirty="0"/>
          </a:p>
        </p:txBody>
      </p:sp>
      <p:sp>
        <p:nvSpPr>
          <p:cNvPr id="3" name="Content Placeholder 2">
            <a:extLst>
              <a:ext uri="{FF2B5EF4-FFF2-40B4-BE49-F238E27FC236}">
                <a16:creationId xmlns:a16="http://schemas.microsoft.com/office/drawing/2014/main" id="{6C5B836D-8E04-25F7-0450-8168188BD1B5}"/>
              </a:ext>
            </a:extLst>
          </p:cNvPr>
          <p:cNvSpPr>
            <a:spLocks noGrp="1"/>
          </p:cNvSpPr>
          <p:nvPr>
            <p:ph idx="1"/>
          </p:nvPr>
        </p:nvSpPr>
        <p:spPr/>
        <p:txBody>
          <a:bodyPr>
            <a:normAutofit fontScale="92500" lnSpcReduction="10000"/>
          </a:bodyPr>
          <a:lstStyle/>
          <a:p>
            <a:r>
              <a:rPr lang="en-US" dirty="0"/>
              <a:t>Small-scale quantum computing combined with strong classical computing in a hybrid form for extremely large datasets (e.g., topological analysis).</a:t>
            </a:r>
          </a:p>
          <a:p>
            <a:r>
              <a:rPr lang="en-US" dirty="0"/>
              <a:t>In order to prevent hackers from surreptitiously copying the key because of the uncertainty, quantum uncertainty can be combined with GANs for cybersecurity purposes to generate private keys for encrypting messages from one place to another.</a:t>
            </a:r>
          </a:p>
          <a:p>
            <a:r>
              <a:rPr lang="en-US" dirty="0"/>
              <a:t>It may sound crazy, but there is a chance that we will be able to teleport information without actually sending it across space and time. </a:t>
            </a:r>
          </a:p>
          <a:p>
            <a:r>
              <a:rPr lang="en-US" dirty="0"/>
              <a:t>This is possible because quantum particles have fluid identities that become entangled over time and space in such a way that altering one particle affects the other, ultimately forming a teleportation channel.</a:t>
            </a:r>
          </a:p>
          <a:p>
            <a:endParaRPr lang="en-US" dirty="0"/>
          </a:p>
        </p:txBody>
      </p:sp>
    </p:spTree>
    <p:extLst>
      <p:ext uri="{BB962C8B-B14F-4D97-AF65-F5344CB8AC3E}">
        <p14:creationId xmlns:p14="http://schemas.microsoft.com/office/powerpoint/2010/main" val="807270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63F8F-BEB3-A436-3CC8-F28A1FB3DE48}"/>
              </a:ext>
            </a:extLst>
          </p:cNvPr>
          <p:cNvSpPr>
            <a:spLocks noGrp="1"/>
          </p:cNvSpPr>
          <p:nvPr>
            <p:ph type="title"/>
          </p:nvPr>
        </p:nvSpPr>
        <p:spPr/>
        <p:txBody>
          <a:bodyPr/>
          <a:lstStyle/>
          <a:p>
            <a:r>
              <a:rPr lang="en-US" b="1" dirty="0"/>
              <a:t>Applications of Quantum Computing imposed with Machine Learning</a:t>
            </a:r>
            <a:endParaRPr lang="en-US" dirty="0"/>
          </a:p>
        </p:txBody>
      </p:sp>
      <p:pic>
        <p:nvPicPr>
          <p:cNvPr id="5" name="Content Placeholder 4">
            <a:extLst>
              <a:ext uri="{FF2B5EF4-FFF2-40B4-BE49-F238E27FC236}">
                <a16:creationId xmlns:a16="http://schemas.microsoft.com/office/drawing/2014/main" id="{91C8C77F-DE0B-9D1A-27F9-DA11534D8CA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0140" b="11200"/>
          <a:stretch/>
        </p:blipFill>
        <p:spPr>
          <a:xfrm>
            <a:off x="3656436" y="1783995"/>
            <a:ext cx="5347605" cy="4802186"/>
          </a:xfrm>
        </p:spPr>
      </p:pic>
    </p:spTree>
    <p:extLst>
      <p:ext uri="{BB962C8B-B14F-4D97-AF65-F5344CB8AC3E}">
        <p14:creationId xmlns:p14="http://schemas.microsoft.com/office/powerpoint/2010/main" val="3617695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3754D-1814-AE04-2657-8E097F0DAC3A}"/>
              </a:ext>
            </a:extLst>
          </p:cNvPr>
          <p:cNvSpPr>
            <a:spLocks noGrp="1"/>
          </p:cNvSpPr>
          <p:nvPr>
            <p:ph type="title"/>
          </p:nvPr>
        </p:nvSpPr>
        <p:spPr/>
        <p:txBody>
          <a:bodyPr/>
          <a:lstStyle/>
          <a:p>
            <a:r>
              <a:rPr lang="en-US" b="1" dirty="0"/>
              <a:t>Applications of Quantum Computing imposed with Machine Learning</a:t>
            </a:r>
            <a:endParaRPr lang="en-US" dirty="0"/>
          </a:p>
        </p:txBody>
      </p:sp>
      <p:sp>
        <p:nvSpPr>
          <p:cNvPr id="3" name="Content Placeholder 2">
            <a:extLst>
              <a:ext uri="{FF2B5EF4-FFF2-40B4-BE49-F238E27FC236}">
                <a16:creationId xmlns:a16="http://schemas.microsoft.com/office/drawing/2014/main" id="{4D95FAC6-A80A-0F42-D789-71FADC853CAE}"/>
              </a:ext>
            </a:extLst>
          </p:cNvPr>
          <p:cNvSpPr>
            <a:spLocks noGrp="1"/>
          </p:cNvSpPr>
          <p:nvPr>
            <p:ph idx="1"/>
          </p:nvPr>
        </p:nvSpPr>
        <p:spPr/>
        <p:txBody>
          <a:bodyPr>
            <a:normAutofit fontScale="77500" lnSpcReduction="20000"/>
          </a:bodyPr>
          <a:lstStyle/>
          <a:p>
            <a:r>
              <a:rPr lang="en-US" dirty="0"/>
              <a:t>Quantum computers are a type of computer where the number of operations needed to reach a state is exponentially small, rather than where every operation will be faster. </a:t>
            </a:r>
          </a:p>
          <a:p>
            <a:r>
              <a:rPr lang="en-US" dirty="0"/>
              <a:t>Thus, the increase is in the overall number of operations rather than the speed at which they are performed. </a:t>
            </a:r>
          </a:p>
          <a:p>
            <a:r>
              <a:rPr lang="en-US" dirty="0"/>
              <a:t>They won’t be any faster for sending emails or watching YouTube videos, but rather for a specific kind of calculation where computational parallelism is seen.</a:t>
            </a:r>
          </a:p>
          <a:p>
            <a:r>
              <a:rPr lang="en-US" dirty="0"/>
              <a:t>In summary, while the aforementioned ideas may seem implausible, we cannot rely solely on common sense when navigating the quantum world. </a:t>
            </a:r>
          </a:p>
          <a:p>
            <a:r>
              <a:rPr lang="en-US" dirty="0"/>
              <a:t>Quantum computers are not more powerful versions of traditional computers, just as you cannot make a light bulb by increasing the power of candles. </a:t>
            </a:r>
          </a:p>
          <a:p>
            <a:r>
              <a:rPr lang="en-US" dirty="0"/>
              <a:t>It’s an entirely new technology based on quantum mechanics that will undoubtedly boast machine learning million times over. </a:t>
            </a:r>
          </a:p>
          <a:p>
            <a:r>
              <a:rPr lang="en-US" dirty="0"/>
              <a:t>Also, IBM provides access to the most advanced quantum computers for real-world work, so go ahead and try it out.</a:t>
            </a:r>
          </a:p>
        </p:txBody>
      </p:sp>
    </p:spTree>
    <p:extLst>
      <p:ext uri="{BB962C8B-B14F-4D97-AF65-F5344CB8AC3E}">
        <p14:creationId xmlns:p14="http://schemas.microsoft.com/office/powerpoint/2010/main" val="923620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97371-0CC5-1237-9EE6-498A5B2677A4}"/>
              </a:ext>
            </a:extLst>
          </p:cNvPr>
          <p:cNvSpPr>
            <a:spLocks noGrp="1"/>
          </p:cNvSpPr>
          <p:nvPr>
            <p:ph type="title"/>
          </p:nvPr>
        </p:nvSpPr>
        <p:spPr/>
        <p:txBody>
          <a:bodyPr/>
          <a:lstStyle/>
          <a:p>
            <a:r>
              <a:rPr lang="en-US" b="1" dirty="0"/>
              <a:t>Uses of Quantum Machine Learning</a:t>
            </a:r>
          </a:p>
        </p:txBody>
      </p:sp>
      <p:sp>
        <p:nvSpPr>
          <p:cNvPr id="3" name="Content Placeholder 2">
            <a:extLst>
              <a:ext uri="{FF2B5EF4-FFF2-40B4-BE49-F238E27FC236}">
                <a16:creationId xmlns:a16="http://schemas.microsoft.com/office/drawing/2014/main" id="{E08D24E7-C27A-172A-0B5A-B0B8798ED404}"/>
              </a:ext>
            </a:extLst>
          </p:cNvPr>
          <p:cNvSpPr>
            <a:spLocks noGrp="1"/>
          </p:cNvSpPr>
          <p:nvPr>
            <p:ph idx="1"/>
          </p:nvPr>
        </p:nvSpPr>
        <p:spPr>
          <a:xfrm>
            <a:off x="838200" y="1834590"/>
            <a:ext cx="10515600" cy="4351338"/>
          </a:xfrm>
        </p:spPr>
        <p:txBody>
          <a:bodyPr>
            <a:normAutofit fontScale="77500" lnSpcReduction="20000"/>
          </a:bodyPr>
          <a:lstStyle/>
          <a:p>
            <a:r>
              <a:rPr lang="en-US" b="1" dirty="0"/>
              <a:t>Quantum data analysis</a:t>
            </a:r>
            <a:r>
              <a:rPr lang="en-US" dirty="0"/>
              <a:t>: Big quantum datasets produced by quantum sensors or simulators can be analyzed using quantum machine learning. This might make it possible to analyze data more effectively and find patterns and insights more quickly.</a:t>
            </a:r>
          </a:p>
          <a:p>
            <a:r>
              <a:rPr lang="en-US" b="1" dirty="0"/>
              <a:t>Quantum chemistry</a:t>
            </a:r>
            <a:r>
              <a:rPr lang="en-US" dirty="0"/>
              <a:t>: Drug development and materials science benefit greatly from the ability to model and anticipate molecular behavior and chemical reactions through the use of quantum machine learning.</a:t>
            </a:r>
          </a:p>
          <a:p>
            <a:r>
              <a:rPr lang="en-US" b="1" dirty="0"/>
              <a:t>Quantum optimization</a:t>
            </a:r>
            <a:r>
              <a:rPr lang="en-US" dirty="0"/>
              <a:t>: Identifying the ideal configuration for a sizable system of interconnected components is one optimization problem that can be resolved using quantum machine learning. Supply chain management, scheduling, and logistics can all benefit from this.</a:t>
            </a:r>
          </a:p>
          <a:p>
            <a:r>
              <a:rPr lang="en-US" b="1" dirty="0"/>
              <a:t>Quantum anomaly detection</a:t>
            </a:r>
            <a:r>
              <a:rPr lang="en-US" dirty="0"/>
              <a:t>: When a quantum computer is being hacked, for example, anomalies in the system can be found using quantum machine learning.</a:t>
            </a:r>
          </a:p>
          <a:p>
            <a:r>
              <a:rPr lang="en-US" b="1" dirty="0"/>
              <a:t>Quantum cryptography</a:t>
            </a:r>
            <a:r>
              <a:rPr lang="en-US" dirty="0"/>
              <a:t>: The security of quantum cryptography systems can be increased by using quantum machine learning, for example, by identifying and blocking eavesdropping on quantum communication channels.</a:t>
            </a:r>
          </a:p>
        </p:txBody>
      </p:sp>
    </p:spTree>
    <p:extLst>
      <p:ext uri="{BB962C8B-B14F-4D97-AF65-F5344CB8AC3E}">
        <p14:creationId xmlns:p14="http://schemas.microsoft.com/office/powerpoint/2010/main" val="2582781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4659C-6DDF-BE8D-0DF9-1A49914365D1}"/>
              </a:ext>
            </a:extLst>
          </p:cNvPr>
          <p:cNvSpPr>
            <a:spLocks noGrp="1"/>
          </p:cNvSpPr>
          <p:nvPr>
            <p:ph type="title"/>
          </p:nvPr>
        </p:nvSpPr>
        <p:spPr/>
        <p:txBody>
          <a:bodyPr/>
          <a:lstStyle/>
          <a:p>
            <a:r>
              <a:rPr lang="en-US" b="1" dirty="0"/>
              <a:t>Issues in Quantum Machine Learning</a:t>
            </a:r>
          </a:p>
        </p:txBody>
      </p:sp>
      <p:sp>
        <p:nvSpPr>
          <p:cNvPr id="3" name="Content Placeholder 2">
            <a:extLst>
              <a:ext uri="{FF2B5EF4-FFF2-40B4-BE49-F238E27FC236}">
                <a16:creationId xmlns:a16="http://schemas.microsoft.com/office/drawing/2014/main" id="{FD442CB9-606A-F7FC-09CD-5DB30FD9A715}"/>
              </a:ext>
            </a:extLst>
          </p:cNvPr>
          <p:cNvSpPr>
            <a:spLocks noGrp="1"/>
          </p:cNvSpPr>
          <p:nvPr>
            <p:ph idx="1"/>
          </p:nvPr>
        </p:nvSpPr>
        <p:spPr/>
        <p:txBody>
          <a:bodyPr>
            <a:normAutofit fontScale="70000" lnSpcReduction="20000"/>
          </a:bodyPr>
          <a:lstStyle/>
          <a:p>
            <a:r>
              <a:rPr lang="en-US" dirty="0"/>
              <a:t>Hardware limitations: In order to be used for machine learning applications in the real world, quantum computers still have a long way to go due to significant hardware limitations.</a:t>
            </a:r>
          </a:p>
          <a:p>
            <a:r>
              <a:rPr lang="en-US" dirty="0"/>
              <a:t>Noise and error correction: The accuracy and dependability of quantum machine learning models may be adversely affected by the inherent noise and error-proneness of quantum systems. One of the biggest challenges in the field is creating efficient error correction techniques.</a:t>
            </a:r>
          </a:p>
          <a:p>
            <a:r>
              <a:rPr lang="en-US" dirty="0"/>
              <a:t>Algorithm development: Considering quantum algorithms are fundamentally different from classical algorithms, developing effective and efficient quantum machine learning algorithms is a significant challenge.</a:t>
            </a:r>
          </a:p>
          <a:p>
            <a:r>
              <a:rPr lang="en-US" dirty="0"/>
              <a:t>Data preparation: Designed data preparation techniques are necessary for quantum machine learning, and they can be difficult and time-consuming.</a:t>
            </a:r>
          </a:p>
          <a:p>
            <a:r>
              <a:rPr lang="en-US" dirty="0"/>
              <a:t>Results interpretation: Since quantum machine learning models are based on states and processes that are fundamental to quantum mechanics and may be challenging to comprehend and visualize, they can be challenging to interpret.</a:t>
            </a:r>
          </a:p>
          <a:p>
            <a:r>
              <a:rPr lang="en-US" dirty="0"/>
              <a:t>Scalability: Given that the resources needed to carry out quantum computations grow exponentially with the size of the problem, scaling up quantum machine learning models to handle big datasets and complicated problems is extremely difficult.</a:t>
            </a:r>
          </a:p>
        </p:txBody>
      </p:sp>
    </p:spTree>
    <p:extLst>
      <p:ext uri="{BB962C8B-B14F-4D97-AF65-F5344CB8AC3E}">
        <p14:creationId xmlns:p14="http://schemas.microsoft.com/office/powerpoint/2010/main" val="2083959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570B2-27E8-0225-0CB9-8DAAA5B9239F}"/>
              </a:ext>
            </a:extLst>
          </p:cNvPr>
          <p:cNvSpPr>
            <a:spLocks noGrp="1"/>
          </p:cNvSpPr>
          <p:nvPr>
            <p:ph type="title"/>
          </p:nvPr>
        </p:nvSpPr>
        <p:spPr/>
        <p:txBody>
          <a:bodyPr/>
          <a:lstStyle/>
          <a:p>
            <a:r>
              <a:rPr lang="en-US" dirty="0"/>
              <a:t>Task for Today</a:t>
            </a:r>
          </a:p>
        </p:txBody>
      </p:sp>
      <p:sp>
        <p:nvSpPr>
          <p:cNvPr id="3" name="Content Placeholder 2">
            <a:extLst>
              <a:ext uri="{FF2B5EF4-FFF2-40B4-BE49-F238E27FC236}">
                <a16:creationId xmlns:a16="http://schemas.microsoft.com/office/drawing/2014/main" id="{E9B33572-BEC0-EFB3-CF02-6F86461F701F}"/>
              </a:ext>
            </a:extLst>
          </p:cNvPr>
          <p:cNvSpPr>
            <a:spLocks noGrp="1"/>
          </p:cNvSpPr>
          <p:nvPr>
            <p:ph idx="1"/>
          </p:nvPr>
        </p:nvSpPr>
        <p:spPr/>
        <p:txBody>
          <a:bodyPr>
            <a:normAutofit fontScale="85000" lnSpcReduction="20000"/>
          </a:bodyPr>
          <a:lstStyle/>
          <a:p>
            <a:pPr marL="514350" indent="-514350">
              <a:buAutoNum type="arabicPeriod"/>
            </a:pPr>
            <a:r>
              <a:rPr lang="en-US" dirty="0"/>
              <a:t>Data Preprocessing of the Merchandize Trade Flow Dataset</a:t>
            </a:r>
          </a:p>
          <a:p>
            <a:pPr marL="514350" indent="-514350">
              <a:buFont typeface="Arial" panose="020B0604020202020204" pitchFamily="34" charset="0"/>
              <a:buAutoNum type="arabicPeriod"/>
            </a:pPr>
            <a:r>
              <a:rPr lang="en-US" dirty="0"/>
              <a:t>Define the quantum device</a:t>
            </a:r>
          </a:p>
          <a:p>
            <a:pPr marL="514350" indent="-514350">
              <a:buFont typeface="Arial" panose="020B0604020202020204" pitchFamily="34" charset="0"/>
              <a:buAutoNum type="arabicPeriod"/>
            </a:pPr>
            <a:r>
              <a:rPr lang="en-US" dirty="0"/>
              <a:t>Define the quantum cell function</a:t>
            </a:r>
          </a:p>
          <a:p>
            <a:pPr marL="514350" indent="-514350">
              <a:buFont typeface="Arial" panose="020B0604020202020204" pitchFamily="34" charset="0"/>
              <a:buAutoNum type="arabicPeriod"/>
            </a:pPr>
            <a:r>
              <a:rPr lang="en-US" dirty="0"/>
              <a:t>Custom </a:t>
            </a:r>
            <a:r>
              <a:rPr lang="en-US" b="1" dirty="0" err="1"/>
              <a:t>Keras</a:t>
            </a:r>
            <a:r>
              <a:rPr lang="en-US" dirty="0"/>
              <a:t> Layer that wraps the quantum LSTM cell</a:t>
            </a:r>
          </a:p>
          <a:p>
            <a:pPr marL="514350" indent="-514350">
              <a:buFont typeface="Arial" panose="020B0604020202020204" pitchFamily="34" charset="0"/>
              <a:buAutoNum type="arabicPeriod"/>
            </a:pPr>
            <a:r>
              <a:rPr lang="en-US" dirty="0"/>
              <a:t>Build the </a:t>
            </a:r>
            <a:r>
              <a:rPr lang="en-US" dirty="0" err="1"/>
              <a:t>Keras</a:t>
            </a:r>
            <a:r>
              <a:rPr lang="en-US" dirty="0"/>
              <a:t> model with quantum LSTM</a:t>
            </a:r>
          </a:p>
          <a:p>
            <a:pPr marL="514350" indent="-514350">
              <a:buFont typeface="Arial" panose="020B0604020202020204" pitchFamily="34" charset="0"/>
              <a:buAutoNum type="arabicPeriod"/>
            </a:pPr>
            <a:r>
              <a:rPr lang="en-US" dirty="0"/>
              <a:t>Process each timestep with </a:t>
            </a:r>
            <a:r>
              <a:rPr lang="en-US" b="1" dirty="0" err="1"/>
              <a:t>QuantumLSTMTimestepLayer</a:t>
            </a:r>
            <a:endParaRPr lang="en-US" b="1" dirty="0"/>
          </a:p>
          <a:p>
            <a:pPr marL="514350" indent="-514350">
              <a:buFont typeface="Arial" panose="020B0604020202020204" pitchFamily="34" charset="0"/>
              <a:buAutoNum type="arabicPeriod"/>
            </a:pPr>
            <a:r>
              <a:rPr lang="en-US" dirty="0"/>
              <a:t>Concatenate timestep outputs along the time dimension</a:t>
            </a:r>
          </a:p>
          <a:p>
            <a:pPr marL="514350" indent="-514350">
              <a:buFont typeface="Arial" panose="020B0604020202020204" pitchFamily="34" charset="0"/>
              <a:buAutoNum type="arabicPeriod"/>
            </a:pPr>
            <a:r>
              <a:rPr lang="en-US" b="1" dirty="0"/>
              <a:t>LayerNormalization</a:t>
            </a:r>
            <a:r>
              <a:rPr lang="en-US" dirty="0"/>
              <a:t> for compatibility in graph mode</a:t>
            </a:r>
          </a:p>
          <a:p>
            <a:pPr marL="514350" indent="-514350">
              <a:buFont typeface="Arial" panose="020B0604020202020204" pitchFamily="34" charset="0"/>
              <a:buAutoNum type="arabicPeriod"/>
            </a:pPr>
            <a:r>
              <a:rPr lang="en-US" dirty="0"/>
              <a:t>Define </a:t>
            </a:r>
            <a:r>
              <a:rPr lang="en-US" b="1" dirty="0"/>
              <a:t>Dropout</a:t>
            </a:r>
            <a:r>
              <a:rPr lang="en-US" dirty="0"/>
              <a:t> and </a:t>
            </a:r>
            <a:r>
              <a:rPr lang="en-US" b="1" dirty="0"/>
              <a:t>Dense</a:t>
            </a:r>
            <a:r>
              <a:rPr lang="en-US" dirty="0"/>
              <a:t> layer for final output</a:t>
            </a:r>
          </a:p>
          <a:p>
            <a:pPr marL="514350" indent="-514350">
              <a:buFont typeface="Arial" panose="020B0604020202020204" pitchFamily="34" charset="0"/>
              <a:buAutoNum type="arabicPeriod"/>
            </a:pPr>
            <a:r>
              <a:rPr lang="en-US" dirty="0"/>
              <a:t>Define and compile the model</a:t>
            </a:r>
          </a:p>
          <a:p>
            <a:pPr marL="514350" indent="-514350">
              <a:buFont typeface="Arial" panose="020B0604020202020204" pitchFamily="34" charset="0"/>
              <a:buAutoNum type="arabicPeriod"/>
            </a:pPr>
            <a:r>
              <a:rPr lang="en-US" dirty="0"/>
              <a:t>Train the model</a:t>
            </a:r>
          </a:p>
          <a:p>
            <a:pPr marL="514350" indent="-514350">
              <a:buFont typeface="Arial" panose="020B0604020202020204" pitchFamily="34" charset="0"/>
              <a:buAutoNum type="arabicPeriod"/>
            </a:pPr>
            <a:endParaRPr lang="en-US" b="0" dirty="0">
              <a:solidFill>
                <a:srgbClr val="D4D4D4"/>
              </a:solidFill>
              <a:effectLst/>
              <a:latin typeface="Courier New" panose="02070309020205020404" pitchFamily="49" charset="0"/>
            </a:endParaRPr>
          </a:p>
          <a:p>
            <a:pPr marL="514350" indent="-514350">
              <a:buFont typeface="Arial" panose="020B0604020202020204" pitchFamily="34" charset="0"/>
              <a:buAutoNum type="arabicPeriod"/>
            </a:pPr>
            <a:endParaRPr lang="en-US" b="0" dirty="0">
              <a:solidFill>
                <a:srgbClr val="D4D4D4"/>
              </a:solidFill>
              <a:effectLst/>
              <a:latin typeface="Courier New" panose="02070309020205020404" pitchFamily="49" charset="0"/>
            </a:endParaRPr>
          </a:p>
          <a:p>
            <a:pPr marL="514350" indent="-514350">
              <a:buAutoNum type="arabicPeriod"/>
            </a:pPr>
            <a:endParaRPr lang="en-US" dirty="0"/>
          </a:p>
        </p:txBody>
      </p:sp>
    </p:spTree>
    <p:extLst>
      <p:ext uri="{BB962C8B-B14F-4D97-AF65-F5344CB8AC3E}">
        <p14:creationId xmlns:p14="http://schemas.microsoft.com/office/powerpoint/2010/main" val="1236116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11693</TotalTime>
  <Words>2086</Words>
  <Application>Microsoft Office PowerPoint</Application>
  <PresentationFormat>Widescreen</PresentationFormat>
  <Paragraphs>137</Paragraphs>
  <Slides>22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Arial</vt:lpstr>
      <vt:lpstr>Arial</vt:lpstr>
      <vt:lpstr>Calibri</vt:lpstr>
      <vt:lpstr>Calibri Light</vt:lpstr>
      <vt:lpstr>Courier New</vt:lpstr>
      <vt:lpstr>Inter</vt:lpstr>
      <vt:lpstr>Source Sans 3</vt:lpstr>
      <vt:lpstr>Source Sans Pro</vt:lpstr>
      <vt:lpstr>var(--cds-font-family-source-sans-pro)</vt:lpstr>
      <vt:lpstr>Office Theme</vt:lpstr>
      <vt:lpstr>Introduction to Quantum Machine Learning  </vt:lpstr>
      <vt:lpstr>What is Quantum Machine Learning?</vt:lpstr>
      <vt:lpstr>Quantum Machine Learning</vt:lpstr>
      <vt:lpstr>Quantum Mechanics</vt:lpstr>
      <vt:lpstr>Building Blocks of Quantum Computing</vt:lpstr>
      <vt:lpstr>Machine learning with Quantum Computing</vt:lpstr>
      <vt:lpstr>Machine learning with Quantum Computing</vt:lpstr>
      <vt:lpstr>Why QML</vt:lpstr>
      <vt:lpstr>Why QML</vt:lpstr>
      <vt:lpstr>QML approaches</vt:lpstr>
      <vt:lpstr>Key concepts of QML</vt:lpstr>
      <vt:lpstr>Variational quantum circuits (VQCs) </vt:lpstr>
      <vt:lpstr>Key concepts of QML</vt:lpstr>
      <vt:lpstr>Key concepts of QML</vt:lpstr>
      <vt:lpstr>Hybrid NNs</vt:lpstr>
      <vt:lpstr>Applications of Quantum Computing imposed with Machine Learning </vt:lpstr>
      <vt:lpstr>Applications of Quantum Computing imposed with Machine Learning</vt:lpstr>
      <vt:lpstr>Applications of Quantum Computing imposed with Machine Learning</vt:lpstr>
      <vt:lpstr>Applications of Quantum Computing imposed with Machine Learning</vt:lpstr>
      <vt:lpstr>Uses of Quantum Machine Learning</vt:lpstr>
      <vt:lpstr>Issues in Quantum Machine Learning</vt:lpstr>
      <vt:lpstr>Task for 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Structures for Quantum Computing</dc:title>
  <dc:creator>DR PETER NIMBE</dc:creator>
  <cp:lastModifiedBy>USER</cp:lastModifiedBy>
  <cp:revision>576</cp:revision>
  <dcterms:created xsi:type="dcterms:W3CDTF">2024-02-03T09:40:50Z</dcterms:created>
  <dcterms:modified xsi:type="dcterms:W3CDTF">2024-11-28T17:11:00Z</dcterms:modified>
</cp:coreProperties>
</file>